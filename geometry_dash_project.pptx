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6350">
            <a:solidFill>
              <a:srgbClr val="7B2FF7">
                <a:alpha val="8000"/>
              </a:srgbClr>
            </a:solidFill>
            <a:prstDash val="solid"/>
          </a:ln>
        </p:spPr>
      </p:sp>
      <p:sp>
        <p:nvSpPr>
          <p:cNvPr id="3" name="Shape 1"/>
          <p:cNvSpPr/>
          <p:nvPr/>
        </p:nvSpPr>
        <p:spPr>
          <a:xfrm>
            <a:off x="822960" y="0"/>
            <a:ext cx="0" cy="6858000"/>
          </a:xfrm>
          <a:prstGeom prst="line">
            <a:avLst/>
          </a:prstGeom>
          <a:noFill/>
          <a:ln w="6350">
            <a:solidFill>
              <a:srgbClr val="7B2FF7">
                <a:alpha val="8000"/>
              </a:srgbClr>
            </a:solidFill>
            <a:prstDash val="solid"/>
          </a:ln>
        </p:spPr>
      </p:sp>
      <p:sp>
        <p:nvSpPr>
          <p:cNvPr id="4" name="Shape 2"/>
          <p:cNvSpPr/>
          <p:nvPr/>
        </p:nvSpPr>
        <p:spPr>
          <a:xfrm>
            <a:off x="1645920" y="0"/>
            <a:ext cx="0" cy="6858000"/>
          </a:xfrm>
          <a:prstGeom prst="line">
            <a:avLst/>
          </a:prstGeom>
          <a:noFill/>
          <a:ln w="6350">
            <a:solidFill>
              <a:srgbClr val="7B2FF7">
                <a:alpha val="8000"/>
              </a:srgbClr>
            </a:solidFill>
            <a:prstDash val="solid"/>
          </a:ln>
        </p:spPr>
      </p:sp>
      <p:sp>
        <p:nvSpPr>
          <p:cNvPr id="5" name="Shape 3"/>
          <p:cNvSpPr/>
          <p:nvPr/>
        </p:nvSpPr>
        <p:spPr>
          <a:xfrm>
            <a:off x="2468880" y="0"/>
            <a:ext cx="0" cy="6858000"/>
          </a:xfrm>
          <a:prstGeom prst="line">
            <a:avLst/>
          </a:prstGeom>
          <a:noFill/>
          <a:ln w="6350">
            <a:solidFill>
              <a:srgbClr val="7B2FF7">
                <a:alpha val="8000"/>
              </a:srgbClr>
            </a:solidFill>
            <a:prstDash val="solid"/>
          </a:ln>
        </p:spPr>
      </p:sp>
      <p:sp>
        <p:nvSpPr>
          <p:cNvPr id="6" name="Shape 4"/>
          <p:cNvSpPr/>
          <p:nvPr/>
        </p:nvSpPr>
        <p:spPr>
          <a:xfrm>
            <a:off x="3291840" y="0"/>
            <a:ext cx="0" cy="6858000"/>
          </a:xfrm>
          <a:prstGeom prst="line">
            <a:avLst/>
          </a:prstGeom>
          <a:noFill/>
          <a:ln w="6350">
            <a:solidFill>
              <a:srgbClr val="7B2FF7">
                <a:alpha val="8000"/>
              </a:srgbClr>
            </a:solidFill>
            <a:prstDash val="solid"/>
          </a:ln>
        </p:spPr>
      </p:sp>
      <p:sp>
        <p:nvSpPr>
          <p:cNvPr id="7" name="Shape 5"/>
          <p:cNvSpPr/>
          <p:nvPr/>
        </p:nvSpPr>
        <p:spPr>
          <a:xfrm>
            <a:off x="4114800" y="0"/>
            <a:ext cx="0" cy="6858000"/>
          </a:xfrm>
          <a:prstGeom prst="line">
            <a:avLst/>
          </a:prstGeom>
          <a:noFill/>
          <a:ln w="6350">
            <a:solidFill>
              <a:srgbClr val="7B2FF7">
                <a:alpha val="8000"/>
              </a:srgbClr>
            </a:solidFill>
            <a:prstDash val="solid"/>
          </a:ln>
        </p:spPr>
      </p:sp>
      <p:sp>
        <p:nvSpPr>
          <p:cNvPr id="8" name="Shape 6"/>
          <p:cNvSpPr/>
          <p:nvPr/>
        </p:nvSpPr>
        <p:spPr>
          <a:xfrm>
            <a:off x="4937760" y="0"/>
            <a:ext cx="0" cy="6858000"/>
          </a:xfrm>
          <a:prstGeom prst="line">
            <a:avLst/>
          </a:prstGeom>
          <a:noFill/>
          <a:ln w="6350">
            <a:solidFill>
              <a:srgbClr val="7B2FF7">
                <a:alpha val="8000"/>
              </a:srgbClr>
            </a:solidFill>
            <a:prstDash val="solid"/>
          </a:ln>
        </p:spPr>
      </p:sp>
      <p:sp>
        <p:nvSpPr>
          <p:cNvPr id="9" name="Shape 7"/>
          <p:cNvSpPr/>
          <p:nvPr/>
        </p:nvSpPr>
        <p:spPr>
          <a:xfrm>
            <a:off x="5760720" y="0"/>
            <a:ext cx="0" cy="6858000"/>
          </a:xfrm>
          <a:prstGeom prst="line">
            <a:avLst/>
          </a:prstGeom>
          <a:noFill/>
          <a:ln w="6350">
            <a:solidFill>
              <a:srgbClr val="7B2FF7">
                <a:alpha val="8000"/>
              </a:srgbClr>
            </a:solidFill>
            <a:prstDash val="solid"/>
          </a:ln>
        </p:spPr>
      </p:sp>
      <p:sp>
        <p:nvSpPr>
          <p:cNvPr id="10" name="Shape 8"/>
          <p:cNvSpPr/>
          <p:nvPr/>
        </p:nvSpPr>
        <p:spPr>
          <a:xfrm>
            <a:off x="6583680" y="0"/>
            <a:ext cx="0" cy="6858000"/>
          </a:xfrm>
          <a:prstGeom prst="line">
            <a:avLst/>
          </a:prstGeom>
          <a:noFill/>
          <a:ln w="6350">
            <a:solidFill>
              <a:srgbClr val="7B2FF7">
                <a:alpha val="8000"/>
              </a:srgbClr>
            </a:solidFill>
            <a:prstDash val="solid"/>
          </a:ln>
        </p:spPr>
      </p:sp>
      <p:sp>
        <p:nvSpPr>
          <p:cNvPr id="11" name="Shape 9"/>
          <p:cNvSpPr/>
          <p:nvPr/>
        </p:nvSpPr>
        <p:spPr>
          <a:xfrm>
            <a:off x="7406640" y="0"/>
            <a:ext cx="0" cy="6858000"/>
          </a:xfrm>
          <a:prstGeom prst="line">
            <a:avLst/>
          </a:prstGeom>
          <a:noFill/>
          <a:ln w="6350">
            <a:solidFill>
              <a:srgbClr val="7B2FF7">
                <a:alpha val="8000"/>
              </a:srgbClr>
            </a:solidFill>
            <a:prstDash val="solid"/>
          </a:ln>
        </p:spPr>
      </p:sp>
      <p:sp>
        <p:nvSpPr>
          <p:cNvPr id="12" name="Shape 10"/>
          <p:cNvSpPr/>
          <p:nvPr/>
        </p:nvSpPr>
        <p:spPr>
          <a:xfrm>
            <a:off x="8229600" y="0"/>
            <a:ext cx="0" cy="6858000"/>
          </a:xfrm>
          <a:prstGeom prst="line">
            <a:avLst/>
          </a:prstGeom>
          <a:noFill/>
          <a:ln w="6350">
            <a:solidFill>
              <a:srgbClr val="7B2FF7">
                <a:alpha val="8000"/>
              </a:srgbClr>
            </a:solidFill>
            <a:prstDash val="solid"/>
          </a:ln>
        </p:spPr>
      </p:sp>
      <p:sp>
        <p:nvSpPr>
          <p:cNvPr id="13" name="Shape 11"/>
          <p:cNvSpPr/>
          <p:nvPr/>
        </p:nvSpPr>
        <p:spPr>
          <a:xfrm>
            <a:off x="9052560" y="0"/>
            <a:ext cx="0" cy="6858000"/>
          </a:xfrm>
          <a:prstGeom prst="line">
            <a:avLst/>
          </a:prstGeom>
          <a:noFill/>
          <a:ln w="6350">
            <a:solidFill>
              <a:srgbClr val="7B2FF7">
                <a:alpha val="8000"/>
              </a:srgbClr>
            </a:solidFill>
            <a:prstDash val="solid"/>
          </a:ln>
        </p:spPr>
      </p:sp>
      <p:sp>
        <p:nvSpPr>
          <p:cNvPr id="14" name="Shape 12"/>
          <p:cNvSpPr/>
          <p:nvPr/>
        </p:nvSpPr>
        <p:spPr>
          <a:xfrm>
            <a:off x="9875520" y="0"/>
            <a:ext cx="0" cy="6858000"/>
          </a:xfrm>
          <a:prstGeom prst="line">
            <a:avLst/>
          </a:prstGeom>
          <a:noFill/>
          <a:ln w="6350">
            <a:solidFill>
              <a:srgbClr val="7B2FF7">
                <a:alpha val="8000"/>
              </a:srgbClr>
            </a:solidFill>
            <a:prstDash val="solid"/>
          </a:ln>
        </p:spPr>
      </p:sp>
      <p:sp>
        <p:nvSpPr>
          <p:cNvPr id="15" name="Shape 13"/>
          <p:cNvSpPr/>
          <p:nvPr/>
        </p:nvSpPr>
        <p:spPr>
          <a:xfrm>
            <a:off x="10698480" y="0"/>
            <a:ext cx="0" cy="6858000"/>
          </a:xfrm>
          <a:prstGeom prst="line">
            <a:avLst/>
          </a:prstGeom>
          <a:noFill/>
          <a:ln w="6350">
            <a:solidFill>
              <a:srgbClr val="7B2FF7">
                <a:alpha val="8000"/>
              </a:srgbClr>
            </a:solidFill>
            <a:prstDash val="solid"/>
          </a:ln>
        </p:spPr>
      </p:sp>
      <p:sp>
        <p:nvSpPr>
          <p:cNvPr id="16" name="Shape 14"/>
          <p:cNvSpPr/>
          <p:nvPr/>
        </p:nvSpPr>
        <p:spPr>
          <a:xfrm>
            <a:off x="11521440" y="0"/>
            <a:ext cx="0" cy="6858000"/>
          </a:xfrm>
          <a:prstGeom prst="line">
            <a:avLst/>
          </a:prstGeom>
          <a:noFill/>
          <a:ln w="6350">
            <a:solidFill>
              <a:srgbClr val="7B2FF7">
                <a:alpha val="8000"/>
              </a:srgbClr>
            </a:solidFill>
            <a:prstDash val="solid"/>
          </a:ln>
        </p:spPr>
      </p:sp>
      <p:sp>
        <p:nvSpPr>
          <p:cNvPr id="17" name="Shape 15"/>
          <p:cNvSpPr/>
          <p:nvPr/>
        </p:nvSpPr>
        <p:spPr>
          <a:xfrm>
            <a:off x="1005840" y="1097280"/>
            <a:ext cx="109728" cy="109728"/>
          </a:xfrm>
          <a:prstGeom prst="ellipse">
            <a:avLst/>
          </a:prstGeom>
          <a:solidFill>
            <a:srgbClr val="00D4FF"/>
          </a:solidFill>
          <a:ln/>
        </p:spPr>
      </p:sp>
      <p:sp>
        <p:nvSpPr>
          <p:cNvPr id="18" name="Shape 16"/>
          <p:cNvSpPr/>
          <p:nvPr/>
        </p:nvSpPr>
        <p:spPr>
          <a:xfrm>
            <a:off x="10607040" y="1371600"/>
            <a:ext cx="82296" cy="82296"/>
          </a:xfrm>
          <a:prstGeom prst="ellipse">
            <a:avLst/>
          </a:prstGeom>
          <a:solidFill>
            <a:srgbClr val="E94560"/>
          </a:solidFill>
          <a:ln/>
        </p:spPr>
      </p:sp>
      <p:sp>
        <p:nvSpPr>
          <p:cNvPr id="19" name="Shape 17"/>
          <p:cNvSpPr/>
          <p:nvPr/>
        </p:nvSpPr>
        <p:spPr>
          <a:xfrm>
            <a:off x="1463040" y="5669280"/>
            <a:ext cx="73152" cy="73152"/>
          </a:xfrm>
          <a:prstGeom prst="ellipse">
            <a:avLst/>
          </a:prstGeom>
          <a:solidFill>
            <a:srgbClr val="FF9F1C"/>
          </a:solidFill>
          <a:ln/>
        </p:spPr>
      </p:sp>
      <p:sp>
        <p:nvSpPr>
          <p:cNvPr id="20" name="Shape 18"/>
          <p:cNvSpPr/>
          <p:nvPr/>
        </p:nvSpPr>
        <p:spPr>
          <a:xfrm>
            <a:off x="10241280" y="5486400"/>
            <a:ext cx="128016" cy="128016"/>
          </a:xfrm>
          <a:prstGeom prst="ellipse">
            <a:avLst/>
          </a:prstGeom>
          <a:solidFill>
            <a:srgbClr val="7B2FF7"/>
          </a:solidFill>
          <a:ln/>
        </p:spPr>
      </p:sp>
      <p:sp>
        <p:nvSpPr>
          <p:cNvPr id="21" name="Shape 19"/>
          <p:cNvSpPr/>
          <p:nvPr/>
        </p:nvSpPr>
        <p:spPr>
          <a:xfrm>
            <a:off x="9326880" y="822960"/>
            <a:ext cx="54864" cy="54864"/>
          </a:xfrm>
          <a:prstGeom prst="ellipse">
            <a:avLst/>
          </a:prstGeom>
          <a:solidFill>
            <a:srgbClr val="FFD23F"/>
          </a:solidFill>
          <a:ln/>
        </p:spPr>
      </p:sp>
      <p:sp>
        <p:nvSpPr>
          <p:cNvPr id="22" name="Shape 20"/>
          <p:cNvSpPr/>
          <p:nvPr/>
        </p:nvSpPr>
        <p:spPr>
          <a:xfrm>
            <a:off x="731520" y="4480560"/>
            <a:ext cx="64008" cy="64008"/>
          </a:xfrm>
          <a:prstGeom prst="ellipse">
            <a:avLst/>
          </a:prstGeom>
          <a:solidFill>
            <a:srgbClr val="00D4FF"/>
          </a:solidFill>
          <a:ln/>
        </p:spPr>
      </p:sp>
      <p:sp>
        <p:nvSpPr>
          <p:cNvPr id="23" name="Shape 21"/>
          <p:cNvSpPr/>
          <p:nvPr/>
        </p:nvSpPr>
        <p:spPr>
          <a:xfrm>
            <a:off x="5440680" y="1965960"/>
            <a:ext cx="502920" cy="502920"/>
          </a:xfrm>
          <a:prstGeom prst="roundRect">
            <a:avLst>
              <a:gd name="adj" fmla="val 10909"/>
            </a:avLst>
          </a:prstGeom>
          <a:solidFill>
            <a:srgbClr val="00D4FF"/>
          </a:solidFill>
          <a:ln w="19050">
            <a:solidFill>
              <a:srgbClr val="FFFFFF"/>
            </a:solidFill>
            <a:prstDash val="solid"/>
          </a:ln>
        </p:spPr>
      </p:sp>
      <p:sp>
        <p:nvSpPr>
          <p:cNvPr id="24" name="Shape 22"/>
          <p:cNvSpPr/>
          <p:nvPr/>
        </p:nvSpPr>
        <p:spPr>
          <a:xfrm>
            <a:off x="5623560" y="1874520"/>
            <a:ext cx="502920" cy="502920"/>
          </a:xfrm>
          <a:prstGeom prst="roundRect">
            <a:avLst>
              <a:gd name="adj" fmla="val 10909"/>
            </a:avLst>
          </a:prstGeom>
          <a:solidFill>
            <a:srgbClr val="7B2FF7"/>
          </a:solidFill>
          <a:ln w="19050">
            <a:solidFill>
              <a:srgbClr val="FFFFFF"/>
            </a:solidFill>
            <a:prstDash val="solid"/>
          </a:ln>
        </p:spPr>
      </p:sp>
      <p:sp>
        <p:nvSpPr>
          <p:cNvPr id="25" name="Text 23"/>
          <p:cNvSpPr/>
          <p:nvPr/>
        </p:nvSpPr>
        <p:spPr>
          <a:xfrm>
            <a:off x="731520" y="2788920"/>
            <a:ext cx="10725912" cy="914400"/>
          </a:xfrm>
          <a:prstGeom prst="rect">
            <a:avLst/>
          </a:prstGeom>
          <a:noFill/>
          <a:ln/>
        </p:spPr>
        <p:txBody>
          <a:bodyPr wrap="square" rtlCol="0" anchor="ctr"/>
          <a:lstStyle/>
          <a:p>
            <a:pPr algn="ctr" indent="0" marL="0">
              <a:buNone/>
            </a:pPr>
            <a:r>
              <a:rPr lang="en-US" sz="4400" b="1" spc="100" kern="0" dirty="0">
                <a:solidFill>
                  <a:srgbClr val="FFFFFF"/>
                </a:solidFill>
                <a:latin typeface="Calibri" pitchFamily="34" charset="0"/>
                <a:ea typeface="Calibri" pitchFamily="34" charset="-122"/>
                <a:cs typeface="Calibri" pitchFamily="34" charset="-120"/>
              </a:rPr>
              <a:t>GEOMETRY DASH CLONE</a:t>
            </a:r>
            <a:endParaRPr lang="en-US" sz="4400" dirty="0"/>
          </a:p>
        </p:txBody>
      </p:sp>
      <p:sp>
        <p:nvSpPr>
          <p:cNvPr id="26" name="Text 24"/>
          <p:cNvSpPr/>
          <p:nvPr/>
        </p:nvSpPr>
        <p:spPr>
          <a:xfrm>
            <a:off x="731520" y="3611880"/>
            <a:ext cx="10725912" cy="457200"/>
          </a:xfrm>
          <a:prstGeom prst="rect">
            <a:avLst/>
          </a:prstGeom>
          <a:noFill/>
          <a:ln/>
        </p:spPr>
        <p:txBody>
          <a:bodyPr wrap="square" rtlCol="0" anchor="ctr"/>
          <a:lstStyle/>
          <a:p>
            <a:pPr algn="ctr" indent="0" marL="0">
              <a:buNone/>
            </a:pPr>
            <a:r>
              <a:rPr lang="en-US" sz="1800" dirty="0">
                <a:solidFill>
                  <a:srgbClr val="AEB4D6"/>
                </a:solidFill>
                <a:latin typeface="Calibri" pitchFamily="34" charset="0"/>
                <a:ea typeface="Calibri" pitchFamily="34" charset="-122"/>
                <a:cs typeface="Calibri" pitchFamily="34" charset="-120"/>
              </a:rPr>
              <a:t>AI와 함께 만든 웹 게임 개발 프로젝트</a:t>
            </a:r>
            <a:endParaRPr lang="en-US" sz="1800" dirty="0"/>
          </a:p>
        </p:txBody>
      </p:sp>
      <p:sp>
        <p:nvSpPr>
          <p:cNvPr id="27" name="Shape 25"/>
          <p:cNvSpPr/>
          <p:nvPr/>
        </p:nvSpPr>
        <p:spPr>
          <a:xfrm>
            <a:off x="4480560" y="4343400"/>
            <a:ext cx="3227832" cy="457200"/>
          </a:xfrm>
          <a:prstGeom prst="roundRect">
            <a:avLst>
              <a:gd name="adj" fmla="val 50000"/>
            </a:avLst>
          </a:prstGeom>
          <a:solidFill>
            <a:srgbClr val="232946"/>
          </a:solidFill>
          <a:ln w="12700">
            <a:solidFill>
              <a:srgbClr val="7B2FF7"/>
            </a:solidFill>
            <a:prstDash val="solid"/>
          </a:ln>
        </p:spPr>
      </p:sp>
      <p:sp>
        <p:nvSpPr>
          <p:cNvPr id="28" name="Text 26"/>
          <p:cNvSpPr/>
          <p:nvPr/>
        </p:nvSpPr>
        <p:spPr>
          <a:xfrm>
            <a:off x="4480560" y="4343400"/>
            <a:ext cx="3227832" cy="457200"/>
          </a:xfrm>
          <a:prstGeom prst="rect">
            <a:avLst/>
          </a:prstGeom>
          <a:noFill/>
          <a:ln/>
        </p:spPr>
        <p:txBody>
          <a:bodyPr wrap="square" rtlCol="0" anchor="ctr"/>
          <a:lstStyle/>
          <a:p>
            <a:pPr algn="ctr" indent="0" marL="0">
              <a:buNone/>
            </a:pPr>
            <a:r>
              <a:rPr lang="en-US" sz="1200" b="1" dirty="0">
                <a:solidFill>
                  <a:srgbClr val="00D4FF"/>
                </a:solidFill>
                <a:latin typeface="Calibri" pitchFamily="34" charset="0"/>
                <a:ea typeface="Calibri" pitchFamily="34" charset="-122"/>
                <a:cs typeface="Calibri" pitchFamily="34" charset="-120"/>
              </a:rPr>
              <a:t>WorkBuddy · Game Development Studio Team</a:t>
            </a:r>
            <a:endParaRPr lang="en-US" sz="1200" dirty="0"/>
          </a:p>
        </p:txBody>
      </p:sp>
      <p:sp>
        <p:nvSpPr>
          <p:cNvPr id="29" name="Text 27"/>
          <p:cNvSpPr/>
          <p:nvPr/>
        </p:nvSpPr>
        <p:spPr>
          <a:xfrm>
            <a:off x="731520" y="6172200"/>
            <a:ext cx="10725912" cy="365760"/>
          </a:xfrm>
          <a:prstGeom prst="rect">
            <a:avLst/>
          </a:prstGeom>
          <a:noFill/>
          <a:ln/>
        </p:spPr>
        <p:txBody>
          <a:bodyPr wrap="square" rtlCol="0" anchor="ctr"/>
          <a:lstStyle/>
          <a:p>
            <a:pPr algn="ctr" indent="0" marL="0">
              <a:buNone/>
            </a:pPr>
            <a:r>
              <a:rPr lang="en-US" sz="1100" dirty="0">
                <a:solidFill>
                  <a:srgbClr val="8A90B8"/>
                </a:solidFill>
                <a:latin typeface="Calibri" pitchFamily="34" charset="0"/>
                <a:ea typeface="Calibri" pitchFamily="34" charset="-122"/>
                <a:cs typeface="Calibri" pitchFamily="34" charset="-120"/>
              </a:rPr>
              <a:t>Practice Task 03 · Game Product Concept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TEAM</a:t>
            </a:r>
            <a:endParaRPr lang="en-US" sz="1200" dirty="0"/>
          </a:p>
        </p:txBody>
      </p:sp>
      <p:sp>
        <p:nvSpPr>
          <p:cNvPr id="3" name="Text 1"/>
          <p:cNvSpPr/>
          <p:nvPr/>
        </p:nvSpPr>
        <p:spPr>
          <a:xfrm>
            <a:off x="548640" y="731520"/>
            <a:ext cx="73152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팀원 및 역할</a:t>
            </a:r>
            <a:endParaRPr lang="en-US" sz="3200" dirty="0"/>
          </a:p>
        </p:txBody>
      </p:sp>
      <p:sp>
        <p:nvSpPr>
          <p:cNvPr id="4" name="Text 2"/>
          <p:cNvSpPr/>
          <p:nvPr/>
        </p:nvSpPr>
        <p:spPr>
          <a:xfrm>
            <a:off x="548640" y="1298448"/>
            <a:ext cx="9144000" cy="365760"/>
          </a:xfrm>
          <a:prstGeom prst="rect">
            <a:avLst/>
          </a:prstGeom>
          <a:noFill/>
          <a:ln/>
        </p:spPr>
        <p:txBody>
          <a:bodyPr wrap="square" rtlCol="0" anchor="ctr"/>
          <a:lstStyle/>
          <a:p>
            <a:pPr indent="0" marL="0">
              <a:buNone/>
            </a:pPr>
            <a:r>
              <a:rPr lang="en-US" sz="1300" dirty="0">
                <a:solidFill>
                  <a:srgbClr val="AEB4D6"/>
                </a:solidFill>
                <a:latin typeface="Calibri" pitchFamily="34" charset="0"/>
                <a:ea typeface="Calibri" pitchFamily="34" charset="-122"/>
                <a:cs typeface="Calibri" pitchFamily="34" charset="-120"/>
              </a:rPr>
              <a:t>총 7명 · WorkBuddy Game Development Studio 팀과 협업</a:t>
            </a:r>
            <a:endParaRPr lang="en-US" sz="1300" dirty="0"/>
          </a:p>
        </p:txBody>
      </p:sp>
      <p:sp>
        <p:nvSpPr>
          <p:cNvPr id="5" name="Shape 3"/>
          <p:cNvSpPr/>
          <p:nvPr/>
        </p:nvSpPr>
        <p:spPr>
          <a:xfrm>
            <a:off x="548640" y="1965960"/>
            <a:ext cx="2542032" cy="1691640"/>
          </a:xfrm>
          <a:prstGeom prst="roundRect">
            <a:avLst>
              <a:gd name="adj" fmla="val 5405"/>
            </a:avLst>
          </a:prstGeom>
          <a:solidFill>
            <a:srgbClr val="232946"/>
          </a:solidFill>
          <a:ln/>
        </p:spPr>
      </p:sp>
      <p:sp>
        <p:nvSpPr>
          <p:cNvPr id="6" name="Shape 4"/>
          <p:cNvSpPr/>
          <p:nvPr/>
        </p:nvSpPr>
        <p:spPr>
          <a:xfrm>
            <a:off x="749808" y="2167128"/>
            <a:ext cx="457200" cy="457200"/>
          </a:xfrm>
          <a:prstGeom prst="ellipse">
            <a:avLst/>
          </a:prstGeom>
          <a:solidFill>
            <a:srgbClr val="7B2FF7"/>
          </a:solidFill>
          <a:ln/>
        </p:spPr>
      </p:sp>
      <p:sp>
        <p:nvSpPr>
          <p:cNvPr id="7" name="Text 5"/>
          <p:cNvSpPr/>
          <p:nvPr/>
        </p:nvSpPr>
        <p:spPr>
          <a:xfrm>
            <a:off x="749808" y="2167128"/>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325880" y="2148840"/>
            <a:ext cx="162763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팀원 A</a:t>
            </a:r>
            <a:endParaRPr lang="en-US" sz="1500" dirty="0"/>
          </a:p>
        </p:txBody>
      </p:sp>
      <p:sp>
        <p:nvSpPr>
          <p:cNvPr id="9" name="Text 7"/>
          <p:cNvSpPr/>
          <p:nvPr/>
        </p:nvSpPr>
        <p:spPr>
          <a:xfrm>
            <a:off x="749808" y="2770632"/>
            <a:ext cx="2139696" cy="777240"/>
          </a:xfrm>
          <a:prstGeom prst="rect">
            <a:avLst/>
          </a:prstGeom>
          <a:noFill/>
          <a:ln/>
        </p:spPr>
        <p:txBody>
          <a:bodyPr wrap="square" lIns="0" tIns="0" rIns="0" bIns="0" rtlCol="0" anchor="t"/>
          <a:lstStyle/>
          <a:p>
            <a:pPr indent="0" marL="0">
              <a:buNone/>
            </a:pPr>
            <a:r>
              <a:rPr lang="en-US" sz="1150" dirty="0">
                <a:solidFill>
                  <a:srgbClr val="AEB4D6"/>
                </a:solidFill>
                <a:latin typeface="Calibri" pitchFamily="34" charset="0"/>
                <a:ea typeface="Calibri" pitchFamily="34" charset="-122"/>
                <a:cs typeface="Calibri" pitchFamily="34" charset="-120"/>
              </a:rPr>
              <a:t>프로젝트 리드 / 기획 총괄</a:t>
            </a:r>
            <a:endParaRPr lang="en-US" sz="1150" dirty="0"/>
          </a:p>
        </p:txBody>
      </p:sp>
      <p:sp>
        <p:nvSpPr>
          <p:cNvPr id="10" name="Shape 8"/>
          <p:cNvSpPr/>
          <p:nvPr/>
        </p:nvSpPr>
        <p:spPr>
          <a:xfrm>
            <a:off x="3255264" y="1965960"/>
            <a:ext cx="2542032" cy="1691640"/>
          </a:xfrm>
          <a:prstGeom prst="roundRect">
            <a:avLst>
              <a:gd name="adj" fmla="val 5405"/>
            </a:avLst>
          </a:prstGeom>
          <a:solidFill>
            <a:srgbClr val="232946"/>
          </a:solidFill>
          <a:ln/>
        </p:spPr>
      </p:sp>
      <p:sp>
        <p:nvSpPr>
          <p:cNvPr id="11" name="Shape 9"/>
          <p:cNvSpPr/>
          <p:nvPr/>
        </p:nvSpPr>
        <p:spPr>
          <a:xfrm>
            <a:off x="3456432" y="2167128"/>
            <a:ext cx="457200" cy="457200"/>
          </a:xfrm>
          <a:prstGeom prst="ellipse">
            <a:avLst/>
          </a:prstGeom>
          <a:solidFill>
            <a:srgbClr val="00D4FF"/>
          </a:solidFill>
          <a:ln/>
        </p:spPr>
      </p:sp>
      <p:sp>
        <p:nvSpPr>
          <p:cNvPr id="12" name="Text 10"/>
          <p:cNvSpPr/>
          <p:nvPr/>
        </p:nvSpPr>
        <p:spPr>
          <a:xfrm>
            <a:off x="3456432" y="2167128"/>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4032504" y="2148840"/>
            <a:ext cx="162763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팀원 B</a:t>
            </a:r>
            <a:endParaRPr lang="en-US" sz="1500" dirty="0"/>
          </a:p>
        </p:txBody>
      </p:sp>
      <p:sp>
        <p:nvSpPr>
          <p:cNvPr id="14" name="Text 12"/>
          <p:cNvSpPr/>
          <p:nvPr/>
        </p:nvSpPr>
        <p:spPr>
          <a:xfrm>
            <a:off x="3456432" y="2770632"/>
            <a:ext cx="2139696" cy="777240"/>
          </a:xfrm>
          <a:prstGeom prst="rect">
            <a:avLst/>
          </a:prstGeom>
          <a:noFill/>
          <a:ln/>
        </p:spPr>
        <p:txBody>
          <a:bodyPr wrap="square" lIns="0" tIns="0" rIns="0" bIns="0" rtlCol="0" anchor="t"/>
          <a:lstStyle/>
          <a:p>
            <a:pPr indent="0" marL="0">
              <a:buNone/>
            </a:pPr>
            <a:r>
              <a:rPr lang="en-US" sz="1150" dirty="0">
                <a:solidFill>
                  <a:srgbClr val="AEB4D6"/>
                </a:solidFill>
                <a:latin typeface="Calibri" pitchFamily="34" charset="0"/>
                <a:ea typeface="Calibri" pitchFamily="34" charset="-122"/>
                <a:cs typeface="Calibri" pitchFamily="34" charset="-120"/>
              </a:rPr>
              <a:t>게임 디자이너 (규칙 · 밸런스 설계)</a:t>
            </a:r>
            <a:endParaRPr lang="en-US" sz="1150" dirty="0"/>
          </a:p>
        </p:txBody>
      </p:sp>
      <p:sp>
        <p:nvSpPr>
          <p:cNvPr id="15" name="Shape 13"/>
          <p:cNvSpPr/>
          <p:nvPr/>
        </p:nvSpPr>
        <p:spPr>
          <a:xfrm>
            <a:off x="5961888" y="1965960"/>
            <a:ext cx="2542032" cy="1691640"/>
          </a:xfrm>
          <a:prstGeom prst="roundRect">
            <a:avLst>
              <a:gd name="adj" fmla="val 5405"/>
            </a:avLst>
          </a:prstGeom>
          <a:solidFill>
            <a:srgbClr val="232946"/>
          </a:solidFill>
          <a:ln/>
        </p:spPr>
      </p:sp>
      <p:sp>
        <p:nvSpPr>
          <p:cNvPr id="16" name="Shape 14"/>
          <p:cNvSpPr/>
          <p:nvPr/>
        </p:nvSpPr>
        <p:spPr>
          <a:xfrm>
            <a:off x="6163056" y="2167128"/>
            <a:ext cx="457200" cy="457200"/>
          </a:xfrm>
          <a:prstGeom prst="ellipse">
            <a:avLst/>
          </a:prstGeom>
          <a:solidFill>
            <a:srgbClr val="FF9F1C"/>
          </a:solidFill>
          <a:ln/>
        </p:spPr>
      </p:sp>
      <p:sp>
        <p:nvSpPr>
          <p:cNvPr id="17" name="Text 15"/>
          <p:cNvSpPr/>
          <p:nvPr/>
        </p:nvSpPr>
        <p:spPr>
          <a:xfrm>
            <a:off x="6163056" y="2167128"/>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6739128" y="2148840"/>
            <a:ext cx="162763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팀원 C</a:t>
            </a:r>
            <a:endParaRPr lang="en-US" sz="1500" dirty="0"/>
          </a:p>
        </p:txBody>
      </p:sp>
      <p:sp>
        <p:nvSpPr>
          <p:cNvPr id="19" name="Text 17"/>
          <p:cNvSpPr/>
          <p:nvPr/>
        </p:nvSpPr>
        <p:spPr>
          <a:xfrm>
            <a:off x="6163056" y="2770632"/>
            <a:ext cx="2139696" cy="777240"/>
          </a:xfrm>
          <a:prstGeom prst="rect">
            <a:avLst/>
          </a:prstGeom>
          <a:noFill/>
          <a:ln/>
        </p:spPr>
        <p:txBody>
          <a:bodyPr wrap="square" lIns="0" tIns="0" rIns="0" bIns="0" rtlCol="0" anchor="t"/>
          <a:lstStyle/>
          <a:p>
            <a:pPr indent="0" marL="0">
              <a:buNone/>
            </a:pPr>
            <a:r>
              <a:rPr lang="en-US" sz="1150" dirty="0">
                <a:solidFill>
                  <a:srgbClr val="AEB4D6"/>
                </a:solidFill>
                <a:latin typeface="Calibri" pitchFamily="34" charset="0"/>
                <a:ea typeface="Calibri" pitchFamily="34" charset="-122"/>
                <a:cs typeface="Calibri" pitchFamily="34" charset="-120"/>
              </a:rPr>
              <a:t>프로그래머 (게임 로직 · 물리)</a:t>
            </a:r>
            <a:endParaRPr lang="en-US" sz="1150" dirty="0"/>
          </a:p>
        </p:txBody>
      </p:sp>
      <p:sp>
        <p:nvSpPr>
          <p:cNvPr id="20" name="Shape 18"/>
          <p:cNvSpPr/>
          <p:nvPr/>
        </p:nvSpPr>
        <p:spPr>
          <a:xfrm>
            <a:off x="8668512" y="1965960"/>
            <a:ext cx="2542032" cy="1691640"/>
          </a:xfrm>
          <a:prstGeom prst="roundRect">
            <a:avLst>
              <a:gd name="adj" fmla="val 5405"/>
            </a:avLst>
          </a:prstGeom>
          <a:solidFill>
            <a:srgbClr val="232946"/>
          </a:solidFill>
          <a:ln/>
        </p:spPr>
      </p:sp>
      <p:sp>
        <p:nvSpPr>
          <p:cNvPr id="21" name="Shape 19"/>
          <p:cNvSpPr/>
          <p:nvPr/>
        </p:nvSpPr>
        <p:spPr>
          <a:xfrm>
            <a:off x="8869680" y="2167128"/>
            <a:ext cx="457200" cy="457200"/>
          </a:xfrm>
          <a:prstGeom prst="ellipse">
            <a:avLst/>
          </a:prstGeom>
          <a:solidFill>
            <a:srgbClr val="E94560"/>
          </a:solidFill>
          <a:ln/>
        </p:spPr>
      </p:sp>
      <p:sp>
        <p:nvSpPr>
          <p:cNvPr id="22" name="Text 20"/>
          <p:cNvSpPr/>
          <p:nvPr/>
        </p:nvSpPr>
        <p:spPr>
          <a:xfrm>
            <a:off x="8869680" y="2167128"/>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9445752" y="2148840"/>
            <a:ext cx="162763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팀원 D</a:t>
            </a:r>
            <a:endParaRPr lang="en-US" sz="1500" dirty="0"/>
          </a:p>
        </p:txBody>
      </p:sp>
      <p:sp>
        <p:nvSpPr>
          <p:cNvPr id="24" name="Text 22"/>
          <p:cNvSpPr/>
          <p:nvPr/>
        </p:nvSpPr>
        <p:spPr>
          <a:xfrm>
            <a:off x="8869680" y="2770632"/>
            <a:ext cx="2139696" cy="777240"/>
          </a:xfrm>
          <a:prstGeom prst="rect">
            <a:avLst/>
          </a:prstGeom>
          <a:noFill/>
          <a:ln/>
        </p:spPr>
        <p:txBody>
          <a:bodyPr wrap="square" lIns="0" tIns="0" rIns="0" bIns="0" rtlCol="0" anchor="t"/>
          <a:lstStyle/>
          <a:p>
            <a:pPr indent="0" marL="0">
              <a:buNone/>
            </a:pPr>
            <a:r>
              <a:rPr lang="en-US" sz="1150" dirty="0">
                <a:solidFill>
                  <a:srgbClr val="AEB4D6"/>
                </a:solidFill>
                <a:latin typeface="Calibri" pitchFamily="34" charset="0"/>
                <a:ea typeface="Calibri" pitchFamily="34" charset="-122"/>
                <a:cs typeface="Calibri" pitchFamily="34" charset="-120"/>
              </a:rPr>
              <a:t>프로그래머 (오디오 · 사운드 시스템)</a:t>
            </a:r>
            <a:endParaRPr lang="en-US" sz="1150" dirty="0"/>
          </a:p>
        </p:txBody>
      </p:sp>
      <p:sp>
        <p:nvSpPr>
          <p:cNvPr id="25" name="Shape 23"/>
          <p:cNvSpPr/>
          <p:nvPr/>
        </p:nvSpPr>
        <p:spPr>
          <a:xfrm>
            <a:off x="548640" y="3858768"/>
            <a:ext cx="2542032" cy="1691640"/>
          </a:xfrm>
          <a:prstGeom prst="roundRect">
            <a:avLst>
              <a:gd name="adj" fmla="val 5405"/>
            </a:avLst>
          </a:prstGeom>
          <a:solidFill>
            <a:srgbClr val="232946"/>
          </a:solidFill>
          <a:ln/>
        </p:spPr>
      </p:sp>
      <p:sp>
        <p:nvSpPr>
          <p:cNvPr id="26" name="Shape 24"/>
          <p:cNvSpPr/>
          <p:nvPr/>
        </p:nvSpPr>
        <p:spPr>
          <a:xfrm>
            <a:off x="749808" y="4059936"/>
            <a:ext cx="457200" cy="457200"/>
          </a:xfrm>
          <a:prstGeom prst="ellipse">
            <a:avLst/>
          </a:prstGeom>
          <a:solidFill>
            <a:srgbClr val="FFD23F"/>
          </a:solidFill>
          <a:ln/>
        </p:spPr>
      </p:sp>
      <p:sp>
        <p:nvSpPr>
          <p:cNvPr id="27" name="Text 25"/>
          <p:cNvSpPr/>
          <p:nvPr/>
        </p:nvSpPr>
        <p:spPr>
          <a:xfrm>
            <a:off x="749808" y="4059936"/>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1325880" y="4041648"/>
            <a:ext cx="162763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팀원 E</a:t>
            </a:r>
            <a:endParaRPr lang="en-US" sz="1500" dirty="0"/>
          </a:p>
        </p:txBody>
      </p:sp>
      <p:sp>
        <p:nvSpPr>
          <p:cNvPr id="29" name="Text 27"/>
          <p:cNvSpPr/>
          <p:nvPr/>
        </p:nvSpPr>
        <p:spPr>
          <a:xfrm>
            <a:off x="749808" y="4663440"/>
            <a:ext cx="2139696" cy="777240"/>
          </a:xfrm>
          <a:prstGeom prst="rect">
            <a:avLst/>
          </a:prstGeom>
          <a:noFill/>
          <a:ln/>
        </p:spPr>
        <p:txBody>
          <a:bodyPr wrap="square" lIns="0" tIns="0" rIns="0" bIns="0" rtlCol="0" anchor="t"/>
          <a:lstStyle/>
          <a:p>
            <a:pPr indent="0" marL="0">
              <a:buNone/>
            </a:pPr>
            <a:r>
              <a:rPr lang="en-US" sz="1150" dirty="0">
                <a:solidFill>
                  <a:srgbClr val="AEB4D6"/>
                </a:solidFill>
                <a:latin typeface="Calibri" pitchFamily="34" charset="0"/>
                <a:ea typeface="Calibri" pitchFamily="34" charset="-122"/>
                <a:cs typeface="Calibri" pitchFamily="34" charset="-120"/>
              </a:rPr>
              <a:t>UI/UX 디자이너 (화면 · 난이도 UI)</a:t>
            </a:r>
            <a:endParaRPr lang="en-US" sz="1150" dirty="0"/>
          </a:p>
        </p:txBody>
      </p:sp>
      <p:sp>
        <p:nvSpPr>
          <p:cNvPr id="30" name="Shape 28"/>
          <p:cNvSpPr/>
          <p:nvPr/>
        </p:nvSpPr>
        <p:spPr>
          <a:xfrm>
            <a:off x="3255264" y="3858768"/>
            <a:ext cx="2542032" cy="1691640"/>
          </a:xfrm>
          <a:prstGeom prst="roundRect">
            <a:avLst>
              <a:gd name="adj" fmla="val 5405"/>
            </a:avLst>
          </a:prstGeom>
          <a:solidFill>
            <a:srgbClr val="232946"/>
          </a:solidFill>
          <a:ln/>
        </p:spPr>
      </p:sp>
      <p:sp>
        <p:nvSpPr>
          <p:cNvPr id="31" name="Shape 29"/>
          <p:cNvSpPr/>
          <p:nvPr/>
        </p:nvSpPr>
        <p:spPr>
          <a:xfrm>
            <a:off x="3456432" y="4059936"/>
            <a:ext cx="457200" cy="457200"/>
          </a:xfrm>
          <a:prstGeom prst="ellipse">
            <a:avLst/>
          </a:prstGeom>
          <a:solidFill>
            <a:srgbClr val="00D4FF"/>
          </a:solidFill>
          <a:ln/>
        </p:spPr>
      </p:sp>
      <p:sp>
        <p:nvSpPr>
          <p:cNvPr id="32" name="Text 30"/>
          <p:cNvSpPr/>
          <p:nvPr/>
        </p:nvSpPr>
        <p:spPr>
          <a:xfrm>
            <a:off x="3456432" y="4059936"/>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4032504" y="4041648"/>
            <a:ext cx="162763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팀원 F</a:t>
            </a:r>
            <a:endParaRPr lang="en-US" sz="1500" dirty="0"/>
          </a:p>
        </p:txBody>
      </p:sp>
      <p:sp>
        <p:nvSpPr>
          <p:cNvPr id="34" name="Text 32"/>
          <p:cNvSpPr/>
          <p:nvPr/>
        </p:nvSpPr>
        <p:spPr>
          <a:xfrm>
            <a:off x="3456432" y="4663440"/>
            <a:ext cx="2139696" cy="777240"/>
          </a:xfrm>
          <a:prstGeom prst="rect">
            <a:avLst/>
          </a:prstGeom>
          <a:noFill/>
          <a:ln/>
        </p:spPr>
        <p:txBody>
          <a:bodyPr wrap="square" lIns="0" tIns="0" rIns="0" bIns="0" rtlCol="0" anchor="t"/>
          <a:lstStyle/>
          <a:p>
            <a:pPr indent="0" marL="0">
              <a:buNone/>
            </a:pPr>
            <a:r>
              <a:rPr lang="en-US" sz="1150" dirty="0">
                <a:solidFill>
                  <a:srgbClr val="AEB4D6"/>
                </a:solidFill>
                <a:latin typeface="Calibri" pitchFamily="34" charset="0"/>
                <a:ea typeface="Calibri" pitchFamily="34" charset="-122"/>
                <a:cs typeface="Calibri" pitchFamily="34" charset="-120"/>
              </a:rPr>
              <a:t>QA / 테스터 (난이도 밸런스 검증)</a:t>
            </a:r>
            <a:endParaRPr lang="en-US" sz="1150" dirty="0"/>
          </a:p>
        </p:txBody>
      </p:sp>
      <p:sp>
        <p:nvSpPr>
          <p:cNvPr id="35" name="Shape 33"/>
          <p:cNvSpPr/>
          <p:nvPr/>
        </p:nvSpPr>
        <p:spPr>
          <a:xfrm>
            <a:off x="5961888" y="3858768"/>
            <a:ext cx="2542032" cy="1691640"/>
          </a:xfrm>
          <a:prstGeom prst="roundRect">
            <a:avLst>
              <a:gd name="adj" fmla="val 5405"/>
            </a:avLst>
          </a:prstGeom>
          <a:solidFill>
            <a:srgbClr val="232946"/>
          </a:solidFill>
          <a:ln/>
        </p:spPr>
      </p:sp>
      <p:sp>
        <p:nvSpPr>
          <p:cNvPr id="36" name="Shape 34"/>
          <p:cNvSpPr/>
          <p:nvPr/>
        </p:nvSpPr>
        <p:spPr>
          <a:xfrm>
            <a:off x="6163056" y="4059936"/>
            <a:ext cx="457200" cy="457200"/>
          </a:xfrm>
          <a:prstGeom prst="ellipse">
            <a:avLst/>
          </a:prstGeom>
          <a:solidFill>
            <a:srgbClr val="7B2FF7"/>
          </a:solidFill>
          <a:ln/>
        </p:spPr>
      </p:sp>
      <p:sp>
        <p:nvSpPr>
          <p:cNvPr id="37" name="Text 35"/>
          <p:cNvSpPr/>
          <p:nvPr/>
        </p:nvSpPr>
        <p:spPr>
          <a:xfrm>
            <a:off x="6163056" y="4059936"/>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8" name="Text 36"/>
          <p:cNvSpPr/>
          <p:nvPr/>
        </p:nvSpPr>
        <p:spPr>
          <a:xfrm>
            <a:off x="6739128" y="4041648"/>
            <a:ext cx="162763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팀원 G</a:t>
            </a:r>
            <a:endParaRPr lang="en-US" sz="1500" dirty="0"/>
          </a:p>
        </p:txBody>
      </p:sp>
      <p:sp>
        <p:nvSpPr>
          <p:cNvPr id="39" name="Text 37"/>
          <p:cNvSpPr/>
          <p:nvPr/>
        </p:nvSpPr>
        <p:spPr>
          <a:xfrm>
            <a:off x="6163056" y="4663440"/>
            <a:ext cx="2139696" cy="777240"/>
          </a:xfrm>
          <a:prstGeom prst="rect">
            <a:avLst/>
          </a:prstGeom>
          <a:noFill/>
          <a:ln/>
        </p:spPr>
        <p:txBody>
          <a:bodyPr wrap="square" lIns="0" tIns="0" rIns="0" bIns="0" rtlCol="0" anchor="t"/>
          <a:lstStyle/>
          <a:p>
            <a:pPr indent="0" marL="0">
              <a:buNone/>
            </a:pPr>
            <a:r>
              <a:rPr lang="en-US" sz="1150" dirty="0">
                <a:solidFill>
                  <a:srgbClr val="AEB4D6"/>
                </a:solidFill>
                <a:latin typeface="Calibri" pitchFamily="34" charset="0"/>
                <a:ea typeface="Calibri" pitchFamily="34" charset="-122"/>
                <a:cs typeface="Calibri" pitchFamily="34" charset="-120"/>
              </a:rPr>
              <a:t>문서화 및 발표 담당</a:t>
            </a:r>
            <a:endParaRPr lang="en-US" sz="1150" dirty="0"/>
          </a:p>
        </p:txBody>
      </p:sp>
      <p:sp>
        <p:nvSpPr>
          <p:cNvPr id="40" name="Text 38"/>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731520"/>
            <a:ext cx="73152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프로젝트 개요</a:t>
            </a:r>
            <a:endParaRPr lang="en-US" sz="3200" dirty="0"/>
          </a:p>
        </p:txBody>
      </p:sp>
      <p:sp>
        <p:nvSpPr>
          <p:cNvPr id="4" name="Text 2"/>
          <p:cNvSpPr/>
          <p:nvPr/>
        </p:nvSpPr>
        <p:spPr>
          <a:xfrm>
            <a:off x="548640" y="1920240"/>
            <a:ext cx="6309360" cy="1280160"/>
          </a:xfrm>
          <a:prstGeom prst="rect">
            <a:avLst/>
          </a:prstGeom>
          <a:noFill/>
          <a:ln/>
        </p:spPr>
        <p:txBody>
          <a:bodyPr wrap="square" rtlCol="0" anchor="t"/>
          <a:lstStyle/>
          <a:p>
            <a:pPr indent="0" marL="0">
              <a:buNone/>
            </a:pPr>
            <a:r>
              <a:rPr lang="en-US" sz="1400" b="1" dirty="0">
                <a:solidFill>
                  <a:srgbClr val="00D4FF"/>
                </a:solidFill>
                <a:latin typeface="Calibri" pitchFamily="34" charset="0"/>
                <a:ea typeface="Calibri" pitchFamily="34" charset="-122"/>
                <a:cs typeface="Calibri" pitchFamily="34" charset="-120"/>
              </a:rPr>
              <a:t>What's the project about?
</a:t>
            </a:r>
            <a:endParaRPr lang="en-US" sz="1400" dirty="0"/>
          </a:p>
          <a:p>
            <a:pPr indent="0" marL="0">
              <a:buNone/>
            </a:pPr>
            <a:r>
              <a:rPr lang="en-US" sz="1500" dirty="0">
                <a:solidFill>
                  <a:srgbClr val="AEB4D6"/>
                </a:solidFill>
                <a:latin typeface="Calibri" pitchFamily="34" charset="0"/>
                <a:ea typeface="Calibri" pitchFamily="34" charset="-122"/>
                <a:cs typeface="Calibri" pitchFamily="34" charset="-120"/>
              </a:rPr>
              <a:t>WorkBuddy의 Game Development Studio 팀과 협업하여, 지오메트리 대시(Geometry Dash) 스타일의 사이드스크롤 러너 게임을 기획부터 완성까지 제작했다.</a:t>
            </a:r>
            <a:endParaRPr lang="en-US" sz="1400" dirty="0"/>
          </a:p>
        </p:txBody>
      </p:sp>
      <p:sp>
        <p:nvSpPr>
          <p:cNvPr id="5" name="Text 3"/>
          <p:cNvSpPr/>
          <p:nvPr/>
        </p:nvSpPr>
        <p:spPr>
          <a:xfrm>
            <a:off x="548640" y="3337560"/>
            <a:ext cx="6309360" cy="2011680"/>
          </a:xfrm>
          <a:prstGeom prst="rect">
            <a:avLst/>
          </a:prstGeom>
          <a:noFill/>
          <a:ln/>
        </p:spPr>
        <p:txBody>
          <a:bodyPr wrap="square" rtlCol="0" anchor="t"/>
          <a:lstStyle/>
          <a:p>
            <a:pPr marL="342900" indent="-342900">
              <a:spcAft>
                <a:spcPts val="1000"/>
              </a:spcAft>
              <a:buSzPct val="100000"/>
              <a:buChar char="▪"/>
            </a:pPr>
            <a:r>
              <a:rPr lang="en-US" sz="1450" dirty="0">
                <a:solidFill>
                  <a:srgbClr val="AEB4D6"/>
                </a:solidFill>
                <a:latin typeface="Calibri" pitchFamily="34" charset="0"/>
                <a:ea typeface="Calibri" pitchFamily="34" charset="-122"/>
                <a:cs typeface="Calibri" pitchFamily="34" charset="-120"/>
              </a:rPr>
              <a:t>과제 유형: 03. Game Product Concept</a:t>
            </a:r>
            <a:endParaRPr lang="en-US" sz="1450" dirty="0"/>
          </a:p>
          <a:p>
            <a:pPr marL="342900" indent="-342900">
              <a:spcAft>
                <a:spcPts val="1000"/>
              </a:spcAft>
              <a:buSzPct val="100000"/>
              <a:buChar char="▪"/>
            </a:pPr>
            <a:r>
              <a:rPr lang="en-US" sz="1450" dirty="0">
                <a:solidFill>
                  <a:srgbClr val="AEB4D6"/>
                </a:solidFill>
                <a:latin typeface="Calibri" pitchFamily="34" charset="0"/>
                <a:ea typeface="Calibri" pitchFamily="34" charset="-122"/>
                <a:cs typeface="Calibri" pitchFamily="34" charset="-120"/>
              </a:rPr>
              <a:t>결과물 형태: HTML5 Canvas 기반, 단일 파일로 실행되는 브라우저 게임</a:t>
            </a:r>
            <a:endParaRPr lang="en-US" sz="1450" dirty="0"/>
          </a:p>
          <a:p>
            <a:pPr marL="342900" indent="-342900">
              <a:spcAft>
                <a:spcPts val="1000"/>
              </a:spcAft>
              <a:buSzPct val="100000"/>
              <a:buChar char="▪"/>
            </a:pPr>
            <a:r>
              <a:rPr lang="en-US" sz="1450" dirty="0">
                <a:solidFill>
                  <a:srgbClr val="AEB4D6"/>
                </a:solidFill>
                <a:latin typeface="Calibri" pitchFamily="34" charset="0"/>
                <a:ea typeface="Calibri" pitchFamily="34" charset="-122"/>
                <a:cs typeface="Calibri" pitchFamily="34" charset="-120"/>
              </a:rPr>
              <a:t>협업 방식: 자연어 프롬프트로 AI 팀에 반복적으로 기능을 요청 · 검증</a:t>
            </a:r>
            <a:endParaRPr lang="en-US" sz="1450" dirty="0"/>
          </a:p>
        </p:txBody>
      </p:sp>
      <p:sp>
        <p:nvSpPr>
          <p:cNvPr id="6" name="Shape 4"/>
          <p:cNvSpPr/>
          <p:nvPr/>
        </p:nvSpPr>
        <p:spPr>
          <a:xfrm>
            <a:off x="7315200" y="1920240"/>
            <a:ext cx="4297680" cy="4160520"/>
          </a:xfrm>
          <a:prstGeom prst="roundRect">
            <a:avLst>
              <a:gd name="adj" fmla="val 2637"/>
            </a:avLst>
          </a:prstGeom>
          <a:solidFill>
            <a:srgbClr val="232946"/>
          </a:solidFill>
          <a:ln w="12700">
            <a:solidFill>
              <a:srgbClr val="7B2FF7"/>
            </a:solidFill>
            <a:prstDash val="solid"/>
          </a:ln>
        </p:spPr>
      </p:sp>
      <p:sp>
        <p:nvSpPr>
          <p:cNvPr id="7" name="Text 5"/>
          <p:cNvSpPr/>
          <p:nvPr/>
        </p:nvSpPr>
        <p:spPr>
          <a:xfrm>
            <a:off x="7315200" y="2286000"/>
            <a:ext cx="4297680" cy="1188720"/>
          </a:xfrm>
          <a:prstGeom prst="rect">
            <a:avLst/>
          </a:prstGeom>
          <a:noFill/>
          <a:ln/>
        </p:spPr>
        <p:txBody>
          <a:bodyPr wrap="square" rtlCol="0" anchor="ctr"/>
          <a:lstStyle/>
          <a:p>
            <a:pPr algn="ctr" indent="0" marL="0">
              <a:buNone/>
            </a:pPr>
            <a:r>
              <a:rPr lang="en-US" sz="7200" b="1" dirty="0">
                <a:solidFill>
                  <a:srgbClr val="00D4FF"/>
                </a:solidFill>
                <a:latin typeface="Calibri" pitchFamily="34" charset="0"/>
                <a:ea typeface="Calibri" pitchFamily="34" charset="-122"/>
                <a:cs typeface="Calibri" pitchFamily="34" charset="-120"/>
              </a:rPr>
              <a:t>1</a:t>
            </a:r>
            <a:endParaRPr lang="en-US" sz="7200" dirty="0"/>
          </a:p>
        </p:txBody>
      </p:sp>
      <p:sp>
        <p:nvSpPr>
          <p:cNvPr id="8" name="Text 6"/>
          <p:cNvSpPr/>
          <p:nvPr/>
        </p:nvSpPr>
        <p:spPr>
          <a:xfrm>
            <a:off x="7589520" y="3520440"/>
            <a:ext cx="374904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단일 HTML 파일</a:t>
            </a:r>
            <a:endParaRPr lang="en-US" sz="1400" dirty="0"/>
          </a:p>
        </p:txBody>
      </p:sp>
      <p:sp>
        <p:nvSpPr>
          <p:cNvPr id="9" name="Text 7"/>
          <p:cNvSpPr/>
          <p:nvPr/>
        </p:nvSpPr>
        <p:spPr>
          <a:xfrm>
            <a:off x="7589520" y="3931920"/>
            <a:ext cx="3749040" cy="640080"/>
          </a:xfrm>
          <a:prstGeom prst="rect">
            <a:avLst/>
          </a:prstGeom>
          <a:noFill/>
          <a:ln/>
        </p:spPr>
        <p:txBody>
          <a:bodyPr wrap="square" rtlCol="0" anchor="ctr"/>
          <a:lstStyle/>
          <a:p>
            <a:pPr algn="ctr" indent="0" marL="0">
              <a:buNone/>
            </a:pPr>
            <a:r>
              <a:rPr lang="en-US" sz="1150" dirty="0">
                <a:solidFill>
                  <a:srgbClr val="8A90B8"/>
                </a:solidFill>
                <a:latin typeface="Calibri" pitchFamily="34" charset="0"/>
                <a:ea typeface="Calibri" pitchFamily="34" charset="-122"/>
                <a:cs typeface="Calibri" pitchFamily="34" charset="-120"/>
              </a:rPr>
              <a:t>외부 라이브러리·서버 없이</a:t>
            </a:r>
            <a:endParaRPr lang="en-US" sz="1150" dirty="0"/>
          </a:p>
          <a:p>
            <a:pPr algn="ctr" indent="0" marL="0">
              <a:buNone/>
            </a:pPr>
            <a:r>
              <a:rPr lang="en-US" sz="1150" dirty="0">
                <a:solidFill>
                  <a:srgbClr val="8A90B8"/>
                </a:solidFill>
                <a:latin typeface="Calibri" pitchFamily="34" charset="0"/>
                <a:ea typeface="Calibri" pitchFamily="34" charset="-122"/>
                <a:cs typeface="Calibri" pitchFamily="34" charset="-120"/>
              </a:rPr>
              <a:t>브라우저에서 바로 실행</a:t>
            </a:r>
            <a:endParaRPr lang="en-US" sz="1150" dirty="0"/>
          </a:p>
        </p:txBody>
      </p:sp>
      <p:sp>
        <p:nvSpPr>
          <p:cNvPr id="10" name="Shape 8"/>
          <p:cNvSpPr/>
          <p:nvPr/>
        </p:nvSpPr>
        <p:spPr>
          <a:xfrm>
            <a:off x="7680960" y="4709160"/>
            <a:ext cx="3566160" cy="0"/>
          </a:xfrm>
          <a:prstGeom prst="line">
            <a:avLst/>
          </a:prstGeom>
          <a:noFill/>
          <a:ln w="9525">
            <a:solidFill>
              <a:srgbClr val="8A90B8">
                <a:alpha val="40000"/>
              </a:srgbClr>
            </a:solidFill>
            <a:prstDash val="solid"/>
          </a:ln>
        </p:spPr>
      </p:sp>
      <p:sp>
        <p:nvSpPr>
          <p:cNvPr id="11" name="Text 9"/>
          <p:cNvSpPr/>
          <p:nvPr/>
        </p:nvSpPr>
        <p:spPr>
          <a:xfrm>
            <a:off x="7315200" y="4846320"/>
            <a:ext cx="4297680" cy="822960"/>
          </a:xfrm>
          <a:prstGeom prst="rect">
            <a:avLst/>
          </a:prstGeom>
          <a:noFill/>
          <a:ln/>
        </p:spPr>
        <p:txBody>
          <a:bodyPr wrap="square" rtlCol="0" anchor="ctr"/>
          <a:lstStyle/>
          <a:p>
            <a:pPr algn="ctr" indent="0" marL="0">
              <a:buNone/>
            </a:pPr>
            <a:r>
              <a:rPr lang="en-US" sz="4400" b="1" dirty="0">
                <a:solidFill>
                  <a:srgbClr val="FF9F1C"/>
                </a:solidFill>
                <a:latin typeface="Calibri" pitchFamily="34" charset="0"/>
                <a:ea typeface="Calibri" pitchFamily="34" charset="-122"/>
                <a:cs typeface="Calibri" pitchFamily="34" charset="-120"/>
              </a:rPr>
              <a:t>5</a:t>
            </a:r>
            <a:endParaRPr lang="en-US" sz="4400" dirty="0"/>
          </a:p>
        </p:txBody>
      </p:sp>
      <p:sp>
        <p:nvSpPr>
          <p:cNvPr id="12" name="Text 10"/>
          <p:cNvSpPr/>
          <p:nvPr/>
        </p:nvSpPr>
        <p:spPr>
          <a:xfrm>
            <a:off x="7589520" y="5532120"/>
            <a:ext cx="3749040" cy="457200"/>
          </a:xfrm>
          <a:prstGeom prst="rect">
            <a:avLst/>
          </a:prstGeom>
          <a:noFill/>
          <a:ln/>
        </p:spPr>
        <p:txBody>
          <a:bodyPr wrap="square" rtlCol="0" anchor="ctr"/>
          <a:lstStyle/>
          <a:p>
            <a:pPr algn="ctr" indent="0" marL="0">
              <a:buNone/>
            </a:pPr>
            <a:r>
              <a:rPr lang="en-US" sz="1150" dirty="0">
                <a:solidFill>
                  <a:srgbClr val="8A90B8"/>
                </a:solidFill>
                <a:latin typeface="Calibri" pitchFamily="34" charset="0"/>
                <a:ea typeface="Calibri" pitchFamily="34" charset="-122"/>
                <a:cs typeface="Calibri" pitchFamily="34" charset="-120"/>
              </a:rPr>
              <a:t>장애물 종류 × 7개 이상의 패턴 조합</a:t>
            </a:r>
            <a:endParaRPr lang="en-US" sz="1150" dirty="0"/>
          </a:p>
        </p:txBody>
      </p:sp>
      <p:sp>
        <p:nvSpPr>
          <p:cNvPr id="13" name="Text 11"/>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GAMEPLAY</a:t>
            </a:r>
            <a:endParaRPr lang="en-US" sz="1200" dirty="0"/>
          </a:p>
        </p:txBody>
      </p:sp>
      <p:sp>
        <p:nvSpPr>
          <p:cNvPr id="3" name="Text 1"/>
          <p:cNvSpPr/>
          <p:nvPr/>
        </p:nvSpPr>
        <p:spPr>
          <a:xfrm>
            <a:off x="548640" y="731520"/>
            <a:ext cx="91440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게임 컨셉 &amp; 핵심 메커닉</a:t>
            </a:r>
            <a:endParaRPr lang="en-US" sz="3200" dirty="0"/>
          </a:p>
        </p:txBody>
      </p:sp>
      <p:sp>
        <p:nvSpPr>
          <p:cNvPr id="4" name="Text 2"/>
          <p:cNvSpPr/>
          <p:nvPr/>
        </p:nvSpPr>
        <p:spPr>
          <a:xfrm>
            <a:off x="548640" y="1298448"/>
            <a:ext cx="9144000" cy="365760"/>
          </a:xfrm>
          <a:prstGeom prst="rect">
            <a:avLst/>
          </a:prstGeom>
          <a:noFill/>
          <a:ln/>
        </p:spPr>
        <p:txBody>
          <a:bodyPr wrap="square" rtlCol="0" anchor="ctr"/>
          <a:lstStyle/>
          <a:p>
            <a:pPr indent="0" marL="0">
              <a:buNone/>
            </a:pPr>
            <a:r>
              <a:rPr lang="en-US" sz="1300" dirty="0">
                <a:solidFill>
                  <a:srgbClr val="AEB4D6"/>
                </a:solidFill>
                <a:latin typeface="Calibri" pitchFamily="34" charset="0"/>
                <a:ea typeface="Calibri" pitchFamily="34" charset="-122"/>
                <a:cs typeface="Calibri" pitchFamily="34" charset="-120"/>
              </a:rPr>
              <a:t>사이드스크롤 러너 · 더블 점프 &amp; 숙이기 조작</a:t>
            </a:r>
            <a:endParaRPr lang="en-US" sz="1300" dirty="0"/>
          </a:p>
        </p:txBody>
      </p:sp>
      <p:sp>
        <p:nvSpPr>
          <p:cNvPr id="5" name="Shape 3"/>
          <p:cNvSpPr/>
          <p:nvPr/>
        </p:nvSpPr>
        <p:spPr>
          <a:xfrm>
            <a:off x="548640" y="1965960"/>
            <a:ext cx="3017520" cy="1188720"/>
          </a:xfrm>
          <a:prstGeom prst="roundRect">
            <a:avLst>
              <a:gd name="adj" fmla="val 7692"/>
            </a:avLst>
          </a:prstGeom>
          <a:solidFill>
            <a:srgbClr val="232946"/>
          </a:solidFill>
          <a:ln/>
        </p:spPr>
      </p:sp>
      <p:sp>
        <p:nvSpPr>
          <p:cNvPr id="6" name="Shape 4"/>
          <p:cNvSpPr/>
          <p:nvPr/>
        </p:nvSpPr>
        <p:spPr>
          <a:xfrm>
            <a:off x="731520" y="2194560"/>
            <a:ext cx="731520" cy="731520"/>
          </a:xfrm>
          <a:prstGeom prst="roundRect">
            <a:avLst>
              <a:gd name="adj" fmla="val 15000"/>
            </a:avLst>
          </a:prstGeom>
          <a:solidFill>
            <a:srgbClr val="00D4FF"/>
          </a:solidFill>
          <a:ln/>
        </p:spPr>
      </p:sp>
      <p:sp>
        <p:nvSpPr>
          <p:cNvPr id="7" name="Text 5"/>
          <p:cNvSpPr/>
          <p:nvPr/>
        </p:nvSpPr>
        <p:spPr>
          <a:xfrm>
            <a:off x="731520" y="2194560"/>
            <a:ext cx="731520" cy="731520"/>
          </a:xfrm>
          <a:prstGeom prst="rect">
            <a:avLst/>
          </a:prstGeom>
          <a:noFill/>
          <a:ln/>
        </p:spPr>
        <p:txBody>
          <a:bodyPr wrap="square" rtlCol="0" anchor="ctr"/>
          <a:lstStyle/>
          <a:p>
            <a:pPr algn="ctr" indent="0" marL="0">
              <a:buNone/>
            </a:pPr>
            <a:r>
              <a:rPr lang="en-US" sz="2600" b="1" dirty="0">
                <a:solidFill>
                  <a:srgbClr val="1A1A2E"/>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600200" y="2167128"/>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Jump</a:t>
            </a:r>
            <a:endParaRPr lang="en-US" sz="1500" dirty="0"/>
          </a:p>
        </p:txBody>
      </p:sp>
      <p:sp>
        <p:nvSpPr>
          <p:cNvPr id="9" name="Text 7"/>
          <p:cNvSpPr/>
          <p:nvPr/>
        </p:nvSpPr>
        <p:spPr>
          <a:xfrm>
            <a:off x="1600200" y="2496312"/>
            <a:ext cx="1828800" cy="594360"/>
          </a:xfrm>
          <a:prstGeom prst="rect">
            <a:avLst/>
          </a:prstGeom>
          <a:noFill/>
          <a:ln/>
        </p:spPr>
        <p:txBody>
          <a:bodyPr wrap="square" lIns="0" tIns="0" rIns="0" bIns="0" rtlCol="0" anchor="ctr"/>
          <a:lstStyle/>
          <a:p>
            <a:pPr indent="0" marL="0">
              <a:buNone/>
            </a:pPr>
            <a:r>
              <a:rPr lang="en-US" sz="1050" dirty="0">
                <a:solidFill>
                  <a:srgbClr val="AEB4D6"/>
                </a:solidFill>
                <a:latin typeface="Calibri" pitchFamily="34" charset="0"/>
                <a:ea typeface="Calibri" pitchFamily="34" charset="-122"/>
                <a:cs typeface="Calibri" pitchFamily="34" charset="-120"/>
              </a:rPr>
              <a:t>공중에서 한 번 더 누르면 더블 점프 (최대 2단)</a:t>
            </a:r>
            <a:endParaRPr lang="en-US" sz="1050" dirty="0"/>
          </a:p>
        </p:txBody>
      </p:sp>
      <p:sp>
        <p:nvSpPr>
          <p:cNvPr id="10" name="Shape 8"/>
          <p:cNvSpPr/>
          <p:nvPr/>
        </p:nvSpPr>
        <p:spPr>
          <a:xfrm>
            <a:off x="3794760" y="1965960"/>
            <a:ext cx="3017520" cy="1188720"/>
          </a:xfrm>
          <a:prstGeom prst="roundRect">
            <a:avLst>
              <a:gd name="adj" fmla="val 7692"/>
            </a:avLst>
          </a:prstGeom>
          <a:solidFill>
            <a:srgbClr val="232946"/>
          </a:solidFill>
          <a:ln/>
        </p:spPr>
      </p:sp>
      <p:sp>
        <p:nvSpPr>
          <p:cNvPr id="11" name="Shape 9"/>
          <p:cNvSpPr/>
          <p:nvPr/>
        </p:nvSpPr>
        <p:spPr>
          <a:xfrm>
            <a:off x="3977640" y="2194560"/>
            <a:ext cx="731520" cy="731520"/>
          </a:xfrm>
          <a:prstGeom prst="roundRect">
            <a:avLst>
              <a:gd name="adj" fmla="val 15000"/>
            </a:avLst>
          </a:prstGeom>
          <a:solidFill>
            <a:srgbClr val="7B2FF7"/>
          </a:solidFill>
          <a:ln/>
        </p:spPr>
      </p:sp>
      <p:sp>
        <p:nvSpPr>
          <p:cNvPr id="12" name="Text 10"/>
          <p:cNvSpPr/>
          <p:nvPr/>
        </p:nvSpPr>
        <p:spPr>
          <a:xfrm>
            <a:off x="3977640" y="2194560"/>
            <a:ext cx="731520" cy="731520"/>
          </a:xfrm>
          <a:prstGeom prst="rect">
            <a:avLst/>
          </a:prstGeom>
          <a:noFill/>
          <a:ln/>
        </p:spPr>
        <p:txBody>
          <a:bodyPr wrap="square" rtlCol="0" anchor="ctr"/>
          <a:lstStyle/>
          <a:p>
            <a:pPr algn="ctr" indent="0" marL="0">
              <a:buNone/>
            </a:pPr>
            <a:r>
              <a:rPr lang="en-US" sz="2600" b="1" dirty="0">
                <a:solidFill>
                  <a:srgbClr val="1A1A2E"/>
                </a:solidFill>
                <a:latin typeface="Calibri" pitchFamily="34" charset="0"/>
                <a:ea typeface="Calibri" pitchFamily="34" charset="-122"/>
                <a:cs typeface="Calibri" pitchFamily="34" charset="-120"/>
              </a:rPr>
              <a:t>↓</a:t>
            </a:r>
            <a:endParaRPr lang="en-US" sz="2600" dirty="0"/>
          </a:p>
        </p:txBody>
      </p:sp>
      <p:sp>
        <p:nvSpPr>
          <p:cNvPr id="13" name="Text 11"/>
          <p:cNvSpPr/>
          <p:nvPr/>
        </p:nvSpPr>
        <p:spPr>
          <a:xfrm>
            <a:off x="4846320" y="2167128"/>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Duck</a:t>
            </a:r>
            <a:endParaRPr lang="en-US" sz="1500" dirty="0"/>
          </a:p>
        </p:txBody>
      </p:sp>
      <p:sp>
        <p:nvSpPr>
          <p:cNvPr id="14" name="Text 12"/>
          <p:cNvSpPr/>
          <p:nvPr/>
        </p:nvSpPr>
        <p:spPr>
          <a:xfrm>
            <a:off x="4846320" y="2496312"/>
            <a:ext cx="1828800" cy="594360"/>
          </a:xfrm>
          <a:prstGeom prst="rect">
            <a:avLst/>
          </a:prstGeom>
          <a:noFill/>
          <a:ln/>
        </p:spPr>
        <p:txBody>
          <a:bodyPr wrap="square" lIns="0" tIns="0" rIns="0" bIns="0" rtlCol="0" anchor="ctr"/>
          <a:lstStyle/>
          <a:p>
            <a:pPr indent="0" marL="0">
              <a:buNone/>
            </a:pPr>
            <a:r>
              <a:rPr lang="en-US" sz="1050" dirty="0">
                <a:solidFill>
                  <a:srgbClr val="AEB4D6"/>
                </a:solidFill>
                <a:latin typeface="Calibri" pitchFamily="34" charset="0"/>
                <a:ea typeface="Calibri" pitchFamily="34" charset="-122"/>
                <a:cs typeface="Calibri" pitchFamily="34" charset="-120"/>
              </a:rPr>
              <a:t>누르는 동안 숙이기 — 머리 위 장애물 통과</a:t>
            </a:r>
            <a:endParaRPr lang="en-US" sz="1050" dirty="0"/>
          </a:p>
        </p:txBody>
      </p:sp>
      <p:sp>
        <p:nvSpPr>
          <p:cNvPr id="15" name="Shape 13"/>
          <p:cNvSpPr/>
          <p:nvPr/>
        </p:nvSpPr>
        <p:spPr>
          <a:xfrm>
            <a:off x="7040880" y="1965960"/>
            <a:ext cx="4553712" cy="1188720"/>
          </a:xfrm>
          <a:prstGeom prst="roundRect">
            <a:avLst>
              <a:gd name="adj" fmla="val 7692"/>
            </a:avLst>
          </a:prstGeom>
          <a:solidFill>
            <a:srgbClr val="202741"/>
          </a:solidFill>
          <a:ln w="9525">
            <a:solidFill>
              <a:srgbClr val="7B2FF7"/>
            </a:solidFill>
            <a:prstDash val="solid"/>
          </a:ln>
        </p:spPr>
      </p:sp>
      <p:sp>
        <p:nvSpPr>
          <p:cNvPr id="16" name="Text 14"/>
          <p:cNvSpPr/>
          <p:nvPr/>
        </p:nvSpPr>
        <p:spPr>
          <a:xfrm>
            <a:off x="7315200" y="2130552"/>
            <a:ext cx="4023360" cy="32004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패턴 기반 장애물 배치</a:t>
            </a:r>
            <a:endParaRPr lang="en-US" sz="1400" dirty="0"/>
          </a:p>
        </p:txBody>
      </p:sp>
      <p:sp>
        <p:nvSpPr>
          <p:cNvPr id="17" name="Text 15"/>
          <p:cNvSpPr/>
          <p:nvPr/>
        </p:nvSpPr>
        <p:spPr>
          <a:xfrm>
            <a:off x="7315200" y="2468880"/>
            <a:ext cx="4023360" cy="621792"/>
          </a:xfrm>
          <a:prstGeom prst="rect">
            <a:avLst/>
          </a:prstGeom>
          <a:noFill/>
          <a:ln/>
        </p:spPr>
        <p:txBody>
          <a:bodyPr wrap="square" lIns="0" tIns="0" rIns="0" bIns="0" rtlCol="0" anchor="ctr"/>
          <a:lstStyle/>
          <a:p>
            <a:pPr indent="0" marL="0">
              <a:buNone/>
            </a:pPr>
            <a:r>
              <a:rPr lang="en-US" sz="1050" dirty="0">
                <a:solidFill>
                  <a:srgbClr val="AEB4D6"/>
                </a:solidFill>
                <a:latin typeface="Calibri" pitchFamily="34" charset="0"/>
                <a:ea typeface="Calibri" pitchFamily="34" charset="-122"/>
                <a:cs typeface="Calibri" pitchFamily="34" charset="-120"/>
              </a:rPr>
              <a:t>단일 랜덤 스폰이 아닌, 7종 이상 사전 정의된 조합(패턴)을 골라 배치 — 실제 지오메트리 대시의 "구간" 감각을 재현</a:t>
            </a:r>
            <a:endParaRPr lang="en-US" sz="1050" dirty="0"/>
          </a:p>
        </p:txBody>
      </p:sp>
      <p:sp>
        <p:nvSpPr>
          <p:cNvPr id="18" name="Text 16"/>
          <p:cNvSpPr/>
          <p:nvPr/>
        </p:nvSpPr>
        <p:spPr>
          <a:xfrm>
            <a:off x="548640" y="3520440"/>
            <a:ext cx="457200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장애물 종류</a:t>
            </a:r>
            <a:endParaRPr lang="en-US" sz="1500" dirty="0"/>
          </a:p>
        </p:txBody>
      </p:sp>
      <p:sp>
        <p:nvSpPr>
          <p:cNvPr id="19" name="Shape 17"/>
          <p:cNvSpPr/>
          <p:nvPr/>
        </p:nvSpPr>
        <p:spPr>
          <a:xfrm>
            <a:off x="548640" y="3931920"/>
            <a:ext cx="2084832" cy="1965960"/>
          </a:xfrm>
          <a:prstGeom prst="roundRect">
            <a:avLst>
              <a:gd name="adj" fmla="val 4651"/>
            </a:avLst>
          </a:prstGeom>
          <a:solidFill>
            <a:srgbClr val="232946"/>
          </a:solidFill>
          <a:ln/>
        </p:spPr>
      </p:sp>
      <p:sp>
        <p:nvSpPr>
          <p:cNvPr id="20" name="Shape 18"/>
          <p:cNvSpPr/>
          <p:nvPr/>
        </p:nvSpPr>
        <p:spPr>
          <a:xfrm>
            <a:off x="1335024" y="4187952"/>
            <a:ext cx="512064" cy="457200"/>
          </a:xfrm>
          <a:prstGeom prst="triangle">
            <a:avLst/>
          </a:prstGeom>
          <a:solidFill>
            <a:srgbClr val="E94560"/>
          </a:solidFill>
          <a:ln/>
        </p:spPr>
      </p:sp>
      <p:sp>
        <p:nvSpPr>
          <p:cNvPr id="21" name="Text 19"/>
          <p:cNvSpPr/>
          <p:nvPr/>
        </p:nvSpPr>
        <p:spPr>
          <a:xfrm>
            <a:off x="658368" y="4800600"/>
            <a:ext cx="18653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Spike</a:t>
            </a:r>
            <a:endParaRPr lang="en-US" sz="1250" dirty="0"/>
          </a:p>
        </p:txBody>
      </p:sp>
      <p:sp>
        <p:nvSpPr>
          <p:cNvPr id="22" name="Text 20"/>
          <p:cNvSpPr/>
          <p:nvPr/>
        </p:nvSpPr>
        <p:spPr>
          <a:xfrm>
            <a:off x="658368" y="5120640"/>
            <a:ext cx="1865376" cy="713232"/>
          </a:xfrm>
          <a:prstGeom prst="rect">
            <a:avLst/>
          </a:prstGeom>
          <a:noFill/>
          <a:ln/>
        </p:spPr>
        <p:txBody>
          <a:bodyPr wrap="square" lIns="0" tIns="0" rIns="0" bIns="0" rtlCol="0" anchor="ctr"/>
          <a:lstStyle/>
          <a:p>
            <a:pPr algn="ctr" indent="0" marL="0">
              <a:buNone/>
            </a:pPr>
            <a:r>
              <a:rPr lang="en-US" sz="950" dirty="0">
                <a:solidFill>
                  <a:srgbClr val="AEB4D6"/>
                </a:solidFill>
                <a:latin typeface="Calibri" pitchFamily="34" charset="0"/>
                <a:ea typeface="Calibri" pitchFamily="34" charset="-122"/>
                <a:cs typeface="Calibri" pitchFamily="34" charset="-120"/>
              </a:rPr>
              <a:t>지면 삼각 가시 — 점프로 회피</a:t>
            </a:r>
            <a:endParaRPr lang="en-US" sz="950" dirty="0"/>
          </a:p>
        </p:txBody>
      </p:sp>
      <p:sp>
        <p:nvSpPr>
          <p:cNvPr id="23" name="Shape 21"/>
          <p:cNvSpPr/>
          <p:nvPr/>
        </p:nvSpPr>
        <p:spPr>
          <a:xfrm>
            <a:off x="2779776" y="3931920"/>
            <a:ext cx="2084832" cy="1965960"/>
          </a:xfrm>
          <a:prstGeom prst="roundRect">
            <a:avLst>
              <a:gd name="adj" fmla="val 4651"/>
            </a:avLst>
          </a:prstGeom>
          <a:solidFill>
            <a:srgbClr val="232946"/>
          </a:solidFill>
          <a:ln/>
        </p:spPr>
      </p:sp>
      <p:sp>
        <p:nvSpPr>
          <p:cNvPr id="24" name="Shape 22"/>
          <p:cNvSpPr/>
          <p:nvPr/>
        </p:nvSpPr>
        <p:spPr>
          <a:xfrm>
            <a:off x="3566160" y="4187952"/>
            <a:ext cx="512064" cy="457200"/>
          </a:xfrm>
          <a:prstGeom prst="triangle">
            <a:avLst/>
          </a:prstGeom>
          <a:solidFill>
            <a:srgbClr val="E94560"/>
          </a:solidFill>
          <a:ln/>
        </p:spPr>
      </p:sp>
      <p:sp>
        <p:nvSpPr>
          <p:cNvPr id="25" name="Text 23"/>
          <p:cNvSpPr/>
          <p:nvPr/>
        </p:nvSpPr>
        <p:spPr>
          <a:xfrm>
            <a:off x="2889504" y="4800600"/>
            <a:ext cx="18653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Double Spike</a:t>
            </a:r>
            <a:endParaRPr lang="en-US" sz="1250" dirty="0"/>
          </a:p>
        </p:txBody>
      </p:sp>
      <p:sp>
        <p:nvSpPr>
          <p:cNvPr id="26" name="Text 24"/>
          <p:cNvSpPr/>
          <p:nvPr/>
        </p:nvSpPr>
        <p:spPr>
          <a:xfrm>
            <a:off x="2889504" y="5120640"/>
            <a:ext cx="1865376" cy="713232"/>
          </a:xfrm>
          <a:prstGeom prst="rect">
            <a:avLst/>
          </a:prstGeom>
          <a:noFill/>
          <a:ln/>
        </p:spPr>
        <p:txBody>
          <a:bodyPr wrap="square" lIns="0" tIns="0" rIns="0" bIns="0" rtlCol="0" anchor="ctr"/>
          <a:lstStyle/>
          <a:p>
            <a:pPr algn="ctr" indent="0" marL="0">
              <a:buNone/>
            </a:pPr>
            <a:r>
              <a:rPr lang="en-US" sz="950" dirty="0">
                <a:solidFill>
                  <a:srgbClr val="AEB4D6"/>
                </a:solidFill>
                <a:latin typeface="Calibri" pitchFamily="34" charset="0"/>
                <a:ea typeface="Calibri" pitchFamily="34" charset="-122"/>
                <a:cs typeface="Calibri" pitchFamily="34" charset="-120"/>
              </a:rPr>
              <a:t>가시 2개 — 정밀한 타이밍 필요</a:t>
            </a:r>
            <a:endParaRPr lang="en-US" sz="950" dirty="0"/>
          </a:p>
        </p:txBody>
      </p:sp>
      <p:sp>
        <p:nvSpPr>
          <p:cNvPr id="27" name="Shape 25"/>
          <p:cNvSpPr/>
          <p:nvPr/>
        </p:nvSpPr>
        <p:spPr>
          <a:xfrm>
            <a:off x="5010912" y="3931920"/>
            <a:ext cx="2084832" cy="1965960"/>
          </a:xfrm>
          <a:prstGeom prst="roundRect">
            <a:avLst>
              <a:gd name="adj" fmla="val 4651"/>
            </a:avLst>
          </a:prstGeom>
          <a:solidFill>
            <a:srgbClr val="232946"/>
          </a:solidFill>
          <a:ln/>
        </p:spPr>
      </p:sp>
      <p:sp>
        <p:nvSpPr>
          <p:cNvPr id="28" name="Shape 26"/>
          <p:cNvSpPr/>
          <p:nvPr/>
        </p:nvSpPr>
        <p:spPr>
          <a:xfrm>
            <a:off x="5824728" y="4187952"/>
            <a:ext cx="457200" cy="457200"/>
          </a:xfrm>
          <a:prstGeom prst="roundRect">
            <a:avLst>
              <a:gd name="adj" fmla="val 12000"/>
            </a:avLst>
          </a:prstGeom>
          <a:solidFill>
            <a:srgbClr val="FF9F1C"/>
          </a:solidFill>
          <a:ln/>
        </p:spPr>
      </p:sp>
      <p:sp>
        <p:nvSpPr>
          <p:cNvPr id="29" name="Text 27"/>
          <p:cNvSpPr/>
          <p:nvPr/>
        </p:nvSpPr>
        <p:spPr>
          <a:xfrm>
            <a:off x="5120640" y="4800600"/>
            <a:ext cx="18653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a:t>
            </a:r>
            <a:endParaRPr lang="en-US" sz="1250" dirty="0"/>
          </a:p>
        </p:txBody>
      </p:sp>
      <p:sp>
        <p:nvSpPr>
          <p:cNvPr id="30" name="Text 28"/>
          <p:cNvSpPr/>
          <p:nvPr/>
        </p:nvSpPr>
        <p:spPr>
          <a:xfrm>
            <a:off x="5120640" y="5120640"/>
            <a:ext cx="1865376" cy="713232"/>
          </a:xfrm>
          <a:prstGeom prst="rect">
            <a:avLst/>
          </a:prstGeom>
          <a:noFill/>
          <a:ln/>
        </p:spPr>
        <p:txBody>
          <a:bodyPr wrap="square" lIns="0" tIns="0" rIns="0" bIns="0" rtlCol="0" anchor="ctr"/>
          <a:lstStyle/>
          <a:p>
            <a:pPr algn="ctr" indent="0" marL="0">
              <a:buNone/>
            </a:pPr>
            <a:r>
              <a:rPr lang="en-US" sz="950" dirty="0">
                <a:solidFill>
                  <a:srgbClr val="AEB4D6"/>
                </a:solidFill>
                <a:latin typeface="Calibri" pitchFamily="34" charset="0"/>
                <a:ea typeface="Calibri" pitchFamily="34" charset="-122"/>
                <a:cs typeface="Calibri" pitchFamily="34" charset="-120"/>
              </a:rPr>
              <a:t>높이가 다른 사각 블록</a:t>
            </a:r>
            <a:endParaRPr lang="en-US" sz="950" dirty="0"/>
          </a:p>
        </p:txBody>
      </p:sp>
      <p:sp>
        <p:nvSpPr>
          <p:cNvPr id="31" name="Shape 29"/>
          <p:cNvSpPr/>
          <p:nvPr/>
        </p:nvSpPr>
        <p:spPr>
          <a:xfrm>
            <a:off x="7242048" y="3931920"/>
            <a:ext cx="2084832" cy="1965960"/>
          </a:xfrm>
          <a:prstGeom prst="roundRect">
            <a:avLst>
              <a:gd name="adj" fmla="val 4651"/>
            </a:avLst>
          </a:prstGeom>
          <a:solidFill>
            <a:srgbClr val="232946"/>
          </a:solidFill>
          <a:ln/>
        </p:spPr>
      </p:sp>
      <p:sp>
        <p:nvSpPr>
          <p:cNvPr id="32" name="Shape 30"/>
          <p:cNvSpPr/>
          <p:nvPr/>
        </p:nvSpPr>
        <p:spPr>
          <a:xfrm>
            <a:off x="8055864" y="4187952"/>
            <a:ext cx="457200" cy="457200"/>
          </a:xfrm>
          <a:prstGeom prst="roundRect">
            <a:avLst>
              <a:gd name="adj" fmla="val 12000"/>
            </a:avLst>
          </a:prstGeom>
          <a:solidFill>
            <a:srgbClr val="FFD23F"/>
          </a:solidFill>
          <a:ln/>
        </p:spPr>
      </p:sp>
      <p:sp>
        <p:nvSpPr>
          <p:cNvPr id="33" name="Text 31"/>
          <p:cNvSpPr/>
          <p:nvPr/>
        </p:nvSpPr>
        <p:spPr>
          <a:xfrm>
            <a:off x="7351776" y="4800600"/>
            <a:ext cx="18653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Tall Block</a:t>
            </a:r>
            <a:endParaRPr lang="en-US" sz="1250" dirty="0"/>
          </a:p>
        </p:txBody>
      </p:sp>
      <p:sp>
        <p:nvSpPr>
          <p:cNvPr id="34" name="Text 32"/>
          <p:cNvSpPr/>
          <p:nvPr/>
        </p:nvSpPr>
        <p:spPr>
          <a:xfrm>
            <a:off x="7351776" y="5120640"/>
            <a:ext cx="1865376" cy="713232"/>
          </a:xfrm>
          <a:prstGeom prst="rect">
            <a:avLst/>
          </a:prstGeom>
          <a:noFill/>
          <a:ln/>
        </p:spPr>
        <p:txBody>
          <a:bodyPr wrap="square" lIns="0" tIns="0" rIns="0" bIns="0" rtlCol="0" anchor="ctr"/>
          <a:lstStyle/>
          <a:p>
            <a:pPr algn="ctr" indent="0" marL="0">
              <a:buNone/>
            </a:pPr>
            <a:r>
              <a:rPr lang="en-US" sz="950" dirty="0">
                <a:solidFill>
                  <a:srgbClr val="AEB4D6"/>
                </a:solidFill>
                <a:latin typeface="Calibri" pitchFamily="34" charset="0"/>
                <a:ea typeface="Calibri" pitchFamily="34" charset="-122"/>
                <a:cs typeface="Calibri" pitchFamily="34" charset="-120"/>
              </a:rPr>
              <a:t>매우 높은 블록 — 더블 점프 필수</a:t>
            </a:r>
            <a:endParaRPr lang="en-US" sz="950" dirty="0"/>
          </a:p>
        </p:txBody>
      </p:sp>
      <p:sp>
        <p:nvSpPr>
          <p:cNvPr id="35" name="Shape 33"/>
          <p:cNvSpPr/>
          <p:nvPr/>
        </p:nvSpPr>
        <p:spPr>
          <a:xfrm>
            <a:off x="9473184" y="3931920"/>
            <a:ext cx="2084832" cy="1965960"/>
          </a:xfrm>
          <a:prstGeom prst="roundRect">
            <a:avLst>
              <a:gd name="adj" fmla="val 4651"/>
            </a:avLst>
          </a:prstGeom>
          <a:solidFill>
            <a:srgbClr val="232946"/>
          </a:solidFill>
          <a:ln/>
        </p:spPr>
      </p:sp>
      <p:sp>
        <p:nvSpPr>
          <p:cNvPr id="36" name="Shape 34"/>
          <p:cNvSpPr/>
          <p:nvPr/>
        </p:nvSpPr>
        <p:spPr>
          <a:xfrm>
            <a:off x="10287000" y="4187952"/>
            <a:ext cx="457200" cy="457200"/>
          </a:xfrm>
          <a:prstGeom prst="roundRect">
            <a:avLst>
              <a:gd name="adj" fmla="val 12000"/>
            </a:avLst>
          </a:prstGeom>
          <a:solidFill>
            <a:srgbClr val="00D4FF"/>
          </a:solidFill>
          <a:ln/>
        </p:spPr>
      </p:sp>
      <p:sp>
        <p:nvSpPr>
          <p:cNvPr id="37" name="Text 35"/>
          <p:cNvSpPr/>
          <p:nvPr/>
        </p:nvSpPr>
        <p:spPr>
          <a:xfrm>
            <a:off x="9582912" y="4800600"/>
            <a:ext cx="18653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Overhead</a:t>
            </a:r>
            <a:endParaRPr lang="en-US" sz="1250" dirty="0"/>
          </a:p>
        </p:txBody>
      </p:sp>
      <p:sp>
        <p:nvSpPr>
          <p:cNvPr id="38" name="Text 36"/>
          <p:cNvSpPr/>
          <p:nvPr/>
        </p:nvSpPr>
        <p:spPr>
          <a:xfrm>
            <a:off x="9582912" y="5120640"/>
            <a:ext cx="1865376" cy="713232"/>
          </a:xfrm>
          <a:prstGeom prst="rect">
            <a:avLst/>
          </a:prstGeom>
          <a:noFill/>
          <a:ln/>
        </p:spPr>
        <p:txBody>
          <a:bodyPr wrap="square" lIns="0" tIns="0" rIns="0" bIns="0" rtlCol="0" anchor="ctr"/>
          <a:lstStyle/>
          <a:p>
            <a:pPr algn="ctr" indent="0" marL="0">
              <a:buNone/>
            </a:pPr>
            <a:r>
              <a:rPr lang="en-US" sz="950" dirty="0">
                <a:solidFill>
                  <a:srgbClr val="AEB4D6"/>
                </a:solidFill>
                <a:latin typeface="Calibri" pitchFamily="34" charset="0"/>
                <a:ea typeface="Calibri" pitchFamily="34" charset="-122"/>
                <a:cs typeface="Calibri" pitchFamily="34" charset="-120"/>
              </a:rPr>
              <a:t>공중 부유 블록 — 숙여서 통과</a:t>
            </a:r>
            <a:endParaRPr lang="en-US" sz="950" dirty="0"/>
          </a:p>
        </p:txBody>
      </p:sp>
      <p:sp>
        <p:nvSpPr>
          <p:cNvPr id="39" name="Text 37"/>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BALANCE</a:t>
            </a:r>
            <a:endParaRPr lang="en-US" sz="1200" dirty="0"/>
          </a:p>
        </p:txBody>
      </p:sp>
      <p:sp>
        <p:nvSpPr>
          <p:cNvPr id="3" name="Text 1"/>
          <p:cNvSpPr/>
          <p:nvPr/>
        </p:nvSpPr>
        <p:spPr>
          <a:xfrm>
            <a:off x="548640" y="731520"/>
            <a:ext cx="91440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난이도 설계</a:t>
            </a:r>
            <a:endParaRPr lang="en-US" sz="3200" dirty="0"/>
          </a:p>
        </p:txBody>
      </p:sp>
      <p:sp>
        <p:nvSpPr>
          <p:cNvPr id="4" name="Text 2"/>
          <p:cNvSpPr/>
          <p:nvPr/>
        </p:nvSpPr>
        <p:spPr>
          <a:xfrm>
            <a:off x="548640" y="1298448"/>
            <a:ext cx="10058400" cy="365760"/>
          </a:xfrm>
          <a:prstGeom prst="rect">
            <a:avLst/>
          </a:prstGeom>
          <a:noFill/>
          <a:ln/>
        </p:spPr>
        <p:txBody>
          <a:bodyPr wrap="square" rtlCol="0" anchor="ctr"/>
          <a:lstStyle/>
          <a:p>
            <a:pPr indent="0" marL="0">
              <a:buNone/>
            </a:pPr>
            <a:r>
              <a:rPr lang="en-US" sz="1300" dirty="0">
                <a:solidFill>
                  <a:srgbClr val="AEB4D6"/>
                </a:solidFill>
                <a:latin typeface="Calibri" pitchFamily="34" charset="0"/>
                <a:ea typeface="Calibri" pitchFamily="34" charset="-122"/>
                <a:cs typeface="Calibri" pitchFamily="34" charset="-120"/>
              </a:rPr>
              <a:t>Easy / Normal / Hard — 속도와 장애물 간격을 함께 스케일링</a:t>
            </a:r>
            <a:endParaRPr lang="en-US" sz="1300" dirty="0"/>
          </a:p>
        </p:txBody>
      </p:sp>
      <p:sp>
        <p:nvSpPr>
          <p:cNvPr id="5" name="Shape 3"/>
          <p:cNvSpPr/>
          <p:nvPr/>
        </p:nvSpPr>
        <p:spPr>
          <a:xfrm>
            <a:off x="548640" y="1965960"/>
            <a:ext cx="3520440" cy="3246120"/>
          </a:xfrm>
          <a:prstGeom prst="roundRect">
            <a:avLst>
              <a:gd name="adj" fmla="val 3380"/>
            </a:avLst>
          </a:prstGeom>
          <a:solidFill>
            <a:srgbClr val="232946"/>
          </a:solidFill>
          <a:ln w="15875">
            <a:solidFill>
              <a:srgbClr val="00D4FF"/>
            </a:solidFill>
            <a:prstDash val="solid"/>
          </a:ln>
        </p:spPr>
      </p:sp>
      <p:sp>
        <p:nvSpPr>
          <p:cNvPr id="6" name="Shape 4"/>
          <p:cNvSpPr/>
          <p:nvPr/>
        </p:nvSpPr>
        <p:spPr>
          <a:xfrm>
            <a:off x="822960" y="2240280"/>
            <a:ext cx="1463040" cy="457200"/>
          </a:xfrm>
          <a:prstGeom prst="roundRect">
            <a:avLst>
              <a:gd name="adj" fmla="val 50000"/>
            </a:avLst>
          </a:prstGeom>
          <a:solidFill>
            <a:srgbClr val="00D4FF"/>
          </a:solidFill>
          <a:ln/>
        </p:spPr>
      </p:sp>
      <p:sp>
        <p:nvSpPr>
          <p:cNvPr id="7" name="Text 5"/>
          <p:cNvSpPr/>
          <p:nvPr/>
        </p:nvSpPr>
        <p:spPr>
          <a:xfrm>
            <a:off x="822960" y="2240280"/>
            <a:ext cx="1463040" cy="45720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EASY</a:t>
            </a:r>
            <a:endParaRPr lang="en-US" sz="1300" dirty="0"/>
          </a:p>
        </p:txBody>
      </p:sp>
      <p:sp>
        <p:nvSpPr>
          <p:cNvPr id="8" name="Text 6"/>
          <p:cNvSpPr/>
          <p:nvPr/>
        </p:nvSpPr>
        <p:spPr>
          <a:xfrm>
            <a:off x="822960" y="2926080"/>
            <a:ext cx="2971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기본 5 → 최고 8</a:t>
            </a:r>
            <a:endParaRPr lang="en-US" sz="1400" dirty="0"/>
          </a:p>
        </p:txBody>
      </p:sp>
      <p:sp>
        <p:nvSpPr>
          <p:cNvPr id="9" name="Text 7"/>
          <p:cNvSpPr/>
          <p:nvPr/>
        </p:nvSpPr>
        <p:spPr>
          <a:xfrm>
            <a:off x="822960" y="3264408"/>
            <a:ext cx="2971800" cy="274320"/>
          </a:xfrm>
          <a:prstGeom prst="rect">
            <a:avLst/>
          </a:prstGeom>
          <a:noFill/>
          <a:ln/>
        </p:spPr>
        <p:txBody>
          <a:bodyPr wrap="square" lIns="0" tIns="0" rIns="0" bIns="0" rtlCol="0" anchor="ctr"/>
          <a:lstStyle/>
          <a:p>
            <a:pPr indent="0" marL="0">
              <a:buNone/>
            </a:pPr>
            <a:r>
              <a:rPr lang="en-US" sz="1000" dirty="0">
                <a:solidFill>
                  <a:srgbClr val="8A90B8"/>
                </a:solidFill>
                <a:latin typeface="Calibri" pitchFamily="34" charset="0"/>
                <a:ea typeface="Calibri" pitchFamily="34" charset="-122"/>
                <a:cs typeface="Calibri" pitchFamily="34" charset="-120"/>
              </a:rPr>
              <a:t>이동 속도</a:t>
            </a:r>
            <a:endParaRPr lang="en-US" sz="1000" dirty="0"/>
          </a:p>
        </p:txBody>
      </p:sp>
      <p:sp>
        <p:nvSpPr>
          <p:cNvPr id="10" name="Text 8"/>
          <p:cNvSpPr/>
          <p:nvPr/>
        </p:nvSpPr>
        <p:spPr>
          <a:xfrm>
            <a:off x="822960" y="3657600"/>
            <a:ext cx="2971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간격 배율 1.35×</a:t>
            </a:r>
            <a:endParaRPr lang="en-US" sz="1400" dirty="0"/>
          </a:p>
        </p:txBody>
      </p:sp>
      <p:sp>
        <p:nvSpPr>
          <p:cNvPr id="11" name="Text 9"/>
          <p:cNvSpPr/>
          <p:nvPr/>
        </p:nvSpPr>
        <p:spPr>
          <a:xfrm>
            <a:off x="822960" y="3995928"/>
            <a:ext cx="2971800" cy="274320"/>
          </a:xfrm>
          <a:prstGeom prst="rect">
            <a:avLst/>
          </a:prstGeom>
          <a:noFill/>
          <a:ln/>
        </p:spPr>
        <p:txBody>
          <a:bodyPr wrap="square" lIns="0" tIns="0" rIns="0" bIns="0" rtlCol="0" anchor="ctr"/>
          <a:lstStyle/>
          <a:p>
            <a:pPr indent="0" marL="0">
              <a:buNone/>
            </a:pPr>
            <a:r>
              <a:rPr lang="en-US" sz="1000" dirty="0">
                <a:solidFill>
                  <a:srgbClr val="8A90B8"/>
                </a:solidFill>
                <a:latin typeface="Calibri" pitchFamily="34" charset="0"/>
                <a:ea typeface="Calibri" pitchFamily="34" charset="-122"/>
                <a:cs typeface="Calibri" pitchFamily="34" charset="-120"/>
              </a:rPr>
              <a:t>장애물 간격</a:t>
            </a:r>
            <a:endParaRPr lang="en-US" sz="1000" dirty="0"/>
          </a:p>
        </p:txBody>
      </p:sp>
      <p:sp>
        <p:nvSpPr>
          <p:cNvPr id="12" name="Shape 10"/>
          <p:cNvSpPr/>
          <p:nvPr/>
        </p:nvSpPr>
        <p:spPr>
          <a:xfrm>
            <a:off x="822960" y="4389120"/>
            <a:ext cx="2971800" cy="0"/>
          </a:xfrm>
          <a:prstGeom prst="line">
            <a:avLst/>
          </a:prstGeom>
          <a:noFill/>
          <a:ln w="6350">
            <a:solidFill>
              <a:srgbClr val="8A90B8">
                <a:alpha val="35000"/>
              </a:srgbClr>
            </a:solidFill>
            <a:prstDash val="solid"/>
          </a:ln>
        </p:spPr>
      </p:sp>
      <p:sp>
        <p:nvSpPr>
          <p:cNvPr id="13" name="Text 11"/>
          <p:cNvSpPr/>
          <p:nvPr/>
        </p:nvSpPr>
        <p:spPr>
          <a:xfrm>
            <a:off x="822960" y="4526280"/>
            <a:ext cx="2971800" cy="594360"/>
          </a:xfrm>
          <a:prstGeom prst="rect">
            <a:avLst/>
          </a:prstGeom>
          <a:noFill/>
          <a:ln/>
        </p:spPr>
        <p:txBody>
          <a:bodyPr wrap="square" lIns="0" tIns="0" rIns="0" bIns="0" rtlCol="0" anchor="ctr"/>
          <a:lstStyle/>
          <a:p>
            <a:pPr indent="0" marL="0">
              <a:buNone/>
            </a:pPr>
            <a:r>
              <a:rPr lang="en-US" sz="1050" dirty="0">
                <a:solidFill>
                  <a:srgbClr val="AEB4D6"/>
                </a:solidFill>
                <a:latin typeface="Calibri" pitchFamily="34" charset="0"/>
                <a:ea typeface="Calibri" pitchFamily="34" charset="-122"/>
                <a:cs typeface="Calibri" pitchFamily="34" charset="-120"/>
              </a:rPr>
              <a:t>느린 속도 · 넓은 간격으로 조작 익히기</a:t>
            </a:r>
            <a:endParaRPr lang="en-US" sz="1050" dirty="0"/>
          </a:p>
        </p:txBody>
      </p:sp>
      <p:sp>
        <p:nvSpPr>
          <p:cNvPr id="14" name="Shape 12"/>
          <p:cNvSpPr/>
          <p:nvPr/>
        </p:nvSpPr>
        <p:spPr>
          <a:xfrm>
            <a:off x="4343400" y="1965960"/>
            <a:ext cx="3520440" cy="3246120"/>
          </a:xfrm>
          <a:prstGeom prst="roundRect">
            <a:avLst>
              <a:gd name="adj" fmla="val 3380"/>
            </a:avLst>
          </a:prstGeom>
          <a:solidFill>
            <a:srgbClr val="232946"/>
          </a:solidFill>
          <a:ln w="15875">
            <a:solidFill>
              <a:srgbClr val="FF9F1C"/>
            </a:solidFill>
            <a:prstDash val="solid"/>
          </a:ln>
        </p:spPr>
      </p:sp>
      <p:sp>
        <p:nvSpPr>
          <p:cNvPr id="15" name="Shape 13"/>
          <p:cNvSpPr/>
          <p:nvPr/>
        </p:nvSpPr>
        <p:spPr>
          <a:xfrm>
            <a:off x="4617720" y="2240280"/>
            <a:ext cx="1463040" cy="457200"/>
          </a:xfrm>
          <a:prstGeom prst="roundRect">
            <a:avLst>
              <a:gd name="adj" fmla="val 50000"/>
            </a:avLst>
          </a:prstGeom>
          <a:solidFill>
            <a:srgbClr val="FF9F1C"/>
          </a:solidFill>
          <a:ln/>
        </p:spPr>
      </p:sp>
      <p:sp>
        <p:nvSpPr>
          <p:cNvPr id="16" name="Text 14"/>
          <p:cNvSpPr/>
          <p:nvPr/>
        </p:nvSpPr>
        <p:spPr>
          <a:xfrm>
            <a:off x="4617720" y="2240280"/>
            <a:ext cx="1463040" cy="45720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NORMAL</a:t>
            </a:r>
            <a:endParaRPr lang="en-US" sz="1300" dirty="0"/>
          </a:p>
        </p:txBody>
      </p:sp>
      <p:sp>
        <p:nvSpPr>
          <p:cNvPr id="17" name="Text 15"/>
          <p:cNvSpPr/>
          <p:nvPr/>
        </p:nvSpPr>
        <p:spPr>
          <a:xfrm>
            <a:off x="4617720" y="2926080"/>
            <a:ext cx="2971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기본 6 → 최고 10.5</a:t>
            </a:r>
            <a:endParaRPr lang="en-US" sz="1400" dirty="0"/>
          </a:p>
        </p:txBody>
      </p:sp>
      <p:sp>
        <p:nvSpPr>
          <p:cNvPr id="18" name="Text 16"/>
          <p:cNvSpPr/>
          <p:nvPr/>
        </p:nvSpPr>
        <p:spPr>
          <a:xfrm>
            <a:off x="4617720" y="3264408"/>
            <a:ext cx="2971800" cy="274320"/>
          </a:xfrm>
          <a:prstGeom prst="rect">
            <a:avLst/>
          </a:prstGeom>
          <a:noFill/>
          <a:ln/>
        </p:spPr>
        <p:txBody>
          <a:bodyPr wrap="square" lIns="0" tIns="0" rIns="0" bIns="0" rtlCol="0" anchor="ctr"/>
          <a:lstStyle/>
          <a:p>
            <a:pPr indent="0" marL="0">
              <a:buNone/>
            </a:pPr>
            <a:r>
              <a:rPr lang="en-US" sz="1000" dirty="0">
                <a:solidFill>
                  <a:srgbClr val="8A90B8"/>
                </a:solidFill>
                <a:latin typeface="Calibri" pitchFamily="34" charset="0"/>
                <a:ea typeface="Calibri" pitchFamily="34" charset="-122"/>
                <a:cs typeface="Calibri" pitchFamily="34" charset="-120"/>
              </a:rPr>
              <a:t>이동 속도</a:t>
            </a:r>
            <a:endParaRPr lang="en-US" sz="1000" dirty="0"/>
          </a:p>
        </p:txBody>
      </p:sp>
      <p:sp>
        <p:nvSpPr>
          <p:cNvPr id="19" name="Text 17"/>
          <p:cNvSpPr/>
          <p:nvPr/>
        </p:nvSpPr>
        <p:spPr>
          <a:xfrm>
            <a:off x="4617720" y="3657600"/>
            <a:ext cx="2971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간격 배율 1.05×</a:t>
            </a:r>
            <a:endParaRPr lang="en-US" sz="1400" dirty="0"/>
          </a:p>
        </p:txBody>
      </p:sp>
      <p:sp>
        <p:nvSpPr>
          <p:cNvPr id="20" name="Text 18"/>
          <p:cNvSpPr/>
          <p:nvPr/>
        </p:nvSpPr>
        <p:spPr>
          <a:xfrm>
            <a:off x="4617720" y="3995928"/>
            <a:ext cx="2971800" cy="274320"/>
          </a:xfrm>
          <a:prstGeom prst="rect">
            <a:avLst/>
          </a:prstGeom>
          <a:noFill/>
          <a:ln/>
        </p:spPr>
        <p:txBody>
          <a:bodyPr wrap="square" lIns="0" tIns="0" rIns="0" bIns="0" rtlCol="0" anchor="ctr"/>
          <a:lstStyle/>
          <a:p>
            <a:pPr indent="0" marL="0">
              <a:buNone/>
            </a:pPr>
            <a:r>
              <a:rPr lang="en-US" sz="1000" dirty="0">
                <a:solidFill>
                  <a:srgbClr val="8A90B8"/>
                </a:solidFill>
                <a:latin typeface="Calibri" pitchFamily="34" charset="0"/>
                <a:ea typeface="Calibri" pitchFamily="34" charset="-122"/>
                <a:cs typeface="Calibri" pitchFamily="34" charset="-120"/>
              </a:rPr>
              <a:t>장애물 간격</a:t>
            </a:r>
            <a:endParaRPr lang="en-US" sz="1000" dirty="0"/>
          </a:p>
        </p:txBody>
      </p:sp>
      <p:sp>
        <p:nvSpPr>
          <p:cNvPr id="21" name="Shape 19"/>
          <p:cNvSpPr/>
          <p:nvPr/>
        </p:nvSpPr>
        <p:spPr>
          <a:xfrm>
            <a:off x="4617720" y="4389120"/>
            <a:ext cx="2971800" cy="0"/>
          </a:xfrm>
          <a:prstGeom prst="line">
            <a:avLst/>
          </a:prstGeom>
          <a:noFill/>
          <a:ln w="6350">
            <a:solidFill>
              <a:srgbClr val="8A90B8">
                <a:alpha val="35000"/>
              </a:srgbClr>
            </a:solidFill>
            <a:prstDash val="solid"/>
          </a:ln>
        </p:spPr>
      </p:sp>
      <p:sp>
        <p:nvSpPr>
          <p:cNvPr id="22" name="Text 20"/>
          <p:cNvSpPr/>
          <p:nvPr/>
        </p:nvSpPr>
        <p:spPr>
          <a:xfrm>
            <a:off x="4617720" y="4526280"/>
            <a:ext cx="2971800" cy="594360"/>
          </a:xfrm>
          <a:prstGeom prst="rect">
            <a:avLst/>
          </a:prstGeom>
          <a:noFill/>
          <a:ln/>
        </p:spPr>
        <p:txBody>
          <a:bodyPr wrap="square" lIns="0" tIns="0" rIns="0" bIns="0" rtlCol="0" anchor="ctr"/>
          <a:lstStyle/>
          <a:p>
            <a:pPr indent="0" marL="0">
              <a:buNone/>
            </a:pPr>
            <a:r>
              <a:rPr lang="en-US" sz="1050" dirty="0">
                <a:solidFill>
                  <a:srgbClr val="AEB4D6"/>
                </a:solidFill>
                <a:latin typeface="Calibri" pitchFamily="34" charset="0"/>
                <a:ea typeface="Calibri" pitchFamily="34" charset="-122"/>
                <a:cs typeface="Calibri" pitchFamily="34" charset="-120"/>
              </a:rPr>
              <a:t>기본 밸런스, 표준 플레이 경험</a:t>
            </a:r>
            <a:endParaRPr lang="en-US" sz="1050" dirty="0"/>
          </a:p>
        </p:txBody>
      </p:sp>
      <p:sp>
        <p:nvSpPr>
          <p:cNvPr id="23" name="Shape 21"/>
          <p:cNvSpPr/>
          <p:nvPr/>
        </p:nvSpPr>
        <p:spPr>
          <a:xfrm>
            <a:off x="8138160" y="1965960"/>
            <a:ext cx="3520440" cy="3246120"/>
          </a:xfrm>
          <a:prstGeom prst="roundRect">
            <a:avLst>
              <a:gd name="adj" fmla="val 3380"/>
            </a:avLst>
          </a:prstGeom>
          <a:solidFill>
            <a:srgbClr val="232946"/>
          </a:solidFill>
          <a:ln w="15875">
            <a:solidFill>
              <a:srgbClr val="E94560"/>
            </a:solidFill>
            <a:prstDash val="solid"/>
          </a:ln>
        </p:spPr>
      </p:sp>
      <p:sp>
        <p:nvSpPr>
          <p:cNvPr id="24" name="Shape 22"/>
          <p:cNvSpPr/>
          <p:nvPr/>
        </p:nvSpPr>
        <p:spPr>
          <a:xfrm>
            <a:off x="8412480" y="2240280"/>
            <a:ext cx="1463040" cy="457200"/>
          </a:xfrm>
          <a:prstGeom prst="roundRect">
            <a:avLst>
              <a:gd name="adj" fmla="val 50000"/>
            </a:avLst>
          </a:prstGeom>
          <a:solidFill>
            <a:srgbClr val="E94560"/>
          </a:solidFill>
          <a:ln/>
        </p:spPr>
      </p:sp>
      <p:sp>
        <p:nvSpPr>
          <p:cNvPr id="25" name="Text 23"/>
          <p:cNvSpPr/>
          <p:nvPr/>
        </p:nvSpPr>
        <p:spPr>
          <a:xfrm>
            <a:off x="8412480" y="2240280"/>
            <a:ext cx="1463040" cy="45720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HARD</a:t>
            </a:r>
            <a:endParaRPr lang="en-US" sz="1300" dirty="0"/>
          </a:p>
        </p:txBody>
      </p:sp>
      <p:sp>
        <p:nvSpPr>
          <p:cNvPr id="26" name="Text 24"/>
          <p:cNvSpPr/>
          <p:nvPr/>
        </p:nvSpPr>
        <p:spPr>
          <a:xfrm>
            <a:off x="8412480" y="2926080"/>
            <a:ext cx="2971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기본 6.8 → 최고 12.5</a:t>
            </a:r>
            <a:endParaRPr lang="en-US" sz="1400" dirty="0"/>
          </a:p>
        </p:txBody>
      </p:sp>
      <p:sp>
        <p:nvSpPr>
          <p:cNvPr id="27" name="Text 25"/>
          <p:cNvSpPr/>
          <p:nvPr/>
        </p:nvSpPr>
        <p:spPr>
          <a:xfrm>
            <a:off x="8412480" y="3264408"/>
            <a:ext cx="2971800" cy="274320"/>
          </a:xfrm>
          <a:prstGeom prst="rect">
            <a:avLst/>
          </a:prstGeom>
          <a:noFill/>
          <a:ln/>
        </p:spPr>
        <p:txBody>
          <a:bodyPr wrap="square" lIns="0" tIns="0" rIns="0" bIns="0" rtlCol="0" anchor="ctr"/>
          <a:lstStyle/>
          <a:p>
            <a:pPr indent="0" marL="0">
              <a:buNone/>
            </a:pPr>
            <a:r>
              <a:rPr lang="en-US" sz="1000" dirty="0">
                <a:solidFill>
                  <a:srgbClr val="8A90B8"/>
                </a:solidFill>
                <a:latin typeface="Calibri" pitchFamily="34" charset="0"/>
                <a:ea typeface="Calibri" pitchFamily="34" charset="-122"/>
                <a:cs typeface="Calibri" pitchFamily="34" charset="-120"/>
              </a:rPr>
              <a:t>이동 속도</a:t>
            </a:r>
            <a:endParaRPr lang="en-US" sz="1000" dirty="0"/>
          </a:p>
        </p:txBody>
      </p:sp>
      <p:sp>
        <p:nvSpPr>
          <p:cNvPr id="28" name="Text 26"/>
          <p:cNvSpPr/>
          <p:nvPr/>
        </p:nvSpPr>
        <p:spPr>
          <a:xfrm>
            <a:off x="8412480" y="3657600"/>
            <a:ext cx="2971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간격 배율 0.95×</a:t>
            </a:r>
            <a:endParaRPr lang="en-US" sz="1400" dirty="0"/>
          </a:p>
        </p:txBody>
      </p:sp>
      <p:sp>
        <p:nvSpPr>
          <p:cNvPr id="29" name="Text 27"/>
          <p:cNvSpPr/>
          <p:nvPr/>
        </p:nvSpPr>
        <p:spPr>
          <a:xfrm>
            <a:off x="8412480" y="3995928"/>
            <a:ext cx="2971800" cy="274320"/>
          </a:xfrm>
          <a:prstGeom prst="rect">
            <a:avLst/>
          </a:prstGeom>
          <a:noFill/>
          <a:ln/>
        </p:spPr>
        <p:txBody>
          <a:bodyPr wrap="square" lIns="0" tIns="0" rIns="0" bIns="0" rtlCol="0" anchor="ctr"/>
          <a:lstStyle/>
          <a:p>
            <a:pPr indent="0" marL="0">
              <a:buNone/>
            </a:pPr>
            <a:r>
              <a:rPr lang="en-US" sz="1000" dirty="0">
                <a:solidFill>
                  <a:srgbClr val="8A90B8"/>
                </a:solidFill>
                <a:latin typeface="Calibri" pitchFamily="34" charset="0"/>
                <a:ea typeface="Calibri" pitchFamily="34" charset="-122"/>
                <a:cs typeface="Calibri" pitchFamily="34" charset="-120"/>
              </a:rPr>
              <a:t>장애물 간격</a:t>
            </a:r>
            <a:endParaRPr lang="en-US" sz="1000" dirty="0"/>
          </a:p>
        </p:txBody>
      </p:sp>
      <p:sp>
        <p:nvSpPr>
          <p:cNvPr id="30" name="Shape 28"/>
          <p:cNvSpPr/>
          <p:nvPr/>
        </p:nvSpPr>
        <p:spPr>
          <a:xfrm>
            <a:off x="8412480" y="4389120"/>
            <a:ext cx="2971800" cy="0"/>
          </a:xfrm>
          <a:prstGeom prst="line">
            <a:avLst/>
          </a:prstGeom>
          <a:noFill/>
          <a:ln w="6350">
            <a:solidFill>
              <a:srgbClr val="8A90B8">
                <a:alpha val="35000"/>
              </a:srgbClr>
            </a:solidFill>
            <a:prstDash val="solid"/>
          </a:ln>
        </p:spPr>
      </p:sp>
      <p:sp>
        <p:nvSpPr>
          <p:cNvPr id="31" name="Text 29"/>
          <p:cNvSpPr/>
          <p:nvPr/>
        </p:nvSpPr>
        <p:spPr>
          <a:xfrm>
            <a:off x="8412480" y="4526280"/>
            <a:ext cx="2971800" cy="594360"/>
          </a:xfrm>
          <a:prstGeom prst="rect">
            <a:avLst/>
          </a:prstGeom>
          <a:noFill/>
          <a:ln/>
        </p:spPr>
        <p:txBody>
          <a:bodyPr wrap="square" lIns="0" tIns="0" rIns="0" bIns="0" rtlCol="0" anchor="ctr"/>
          <a:lstStyle/>
          <a:p>
            <a:pPr indent="0" marL="0">
              <a:buNone/>
            </a:pPr>
            <a:r>
              <a:rPr lang="en-US" sz="1050" dirty="0">
                <a:solidFill>
                  <a:srgbClr val="AEB4D6"/>
                </a:solidFill>
                <a:latin typeface="Calibri" pitchFamily="34" charset="0"/>
                <a:ea typeface="Calibri" pitchFamily="34" charset="-122"/>
                <a:cs typeface="Calibri" pitchFamily="34" charset="-120"/>
              </a:rPr>
              <a:t>빠른 속도지만 반응 가능한 최소 간격 보장</a:t>
            </a:r>
            <a:endParaRPr lang="en-US" sz="1050" dirty="0"/>
          </a:p>
        </p:txBody>
      </p:sp>
      <p:sp>
        <p:nvSpPr>
          <p:cNvPr id="32" name="Text 30"/>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DESIGN</a:t>
            </a:r>
            <a:endParaRPr lang="en-US" sz="1200" dirty="0"/>
          </a:p>
        </p:txBody>
      </p:sp>
      <p:sp>
        <p:nvSpPr>
          <p:cNvPr id="3" name="Text 1"/>
          <p:cNvSpPr/>
          <p:nvPr/>
        </p:nvSpPr>
        <p:spPr>
          <a:xfrm>
            <a:off x="548640" y="731520"/>
            <a:ext cx="91440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비주얼 &amp; 오디오</a:t>
            </a:r>
            <a:endParaRPr lang="en-US" sz="3200" dirty="0"/>
          </a:p>
        </p:txBody>
      </p:sp>
      <p:sp>
        <p:nvSpPr>
          <p:cNvPr id="4" name="Shape 2"/>
          <p:cNvSpPr/>
          <p:nvPr/>
        </p:nvSpPr>
        <p:spPr>
          <a:xfrm>
            <a:off x="548640" y="1920240"/>
            <a:ext cx="5303520" cy="4160520"/>
          </a:xfrm>
          <a:prstGeom prst="roundRect">
            <a:avLst>
              <a:gd name="adj" fmla="val 2637"/>
            </a:avLst>
          </a:prstGeom>
          <a:solidFill>
            <a:srgbClr val="232946"/>
          </a:solidFill>
          <a:ln/>
        </p:spPr>
      </p:sp>
      <p:sp>
        <p:nvSpPr>
          <p:cNvPr id="5" name="Text 3"/>
          <p:cNvSpPr/>
          <p:nvPr/>
        </p:nvSpPr>
        <p:spPr>
          <a:xfrm>
            <a:off x="914400" y="2194560"/>
            <a:ext cx="4572000" cy="365760"/>
          </a:xfrm>
          <a:prstGeom prst="rect">
            <a:avLst/>
          </a:prstGeom>
          <a:noFill/>
          <a:ln/>
        </p:spPr>
        <p:txBody>
          <a:bodyPr wrap="square"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VISUAL</a:t>
            </a:r>
            <a:endParaRPr lang="en-US" sz="1600" dirty="0"/>
          </a:p>
        </p:txBody>
      </p:sp>
      <p:sp>
        <p:nvSpPr>
          <p:cNvPr id="6" name="Text 4"/>
          <p:cNvSpPr/>
          <p:nvPr/>
        </p:nvSpPr>
        <p:spPr>
          <a:xfrm>
            <a:off x="914400" y="2697480"/>
            <a:ext cx="4572000" cy="3200400"/>
          </a:xfrm>
          <a:prstGeom prst="rect">
            <a:avLst/>
          </a:prstGeom>
          <a:noFill/>
          <a:ln/>
        </p:spPr>
        <p:txBody>
          <a:bodyPr wrap="square" rtlCol="0" anchor="t"/>
          <a:lstStyle/>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시안-퍼플 그라데이션 캐릭터 (사각형)</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공중 회전 애니메이션 + 숙일 때 높이 축소</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최근 위치를 기록해 렌더링하는 잔상(트레일) 효과</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다크 네이비-퍼플 배경 + 스크롤 그리드 패럴랙스</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충돌 시 파티클 폭발 효과</a:t>
            </a:r>
            <a:endParaRPr lang="en-US" sz="1300" dirty="0"/>
          </a:p>
        </p:txBody>
      </p:sp>
      <p:sp>
        <p:nvSpPr>
          <p:cNvPr id="7" name="Shape 5"/>
          <p:cNvSpPr/>
          <p:nvPr/>
        </p:nvSpPr>
        <p:spPr>
          <a:xfrm>
            <a:off x="6309360" y="1920240"/>
            <a:ext cx="5303520" cy="4160520"/>
          </a:xfrm>
          <a:prstGeom prst="roundRect">
            <a:avLst>
              <a:gd name="adj" fmla="val 2637"/>
            </a:avLst>
          </a:prstGeom>
          <a:solidFill>
            <a:srgbClr val="232946"/>
          </a:solidFill>
          <a:ln/>
        </p:spPr>
      </p:sp>
      <p:sp>
        <p:nvSpPr>
          <p:cNvPr id="8" name="Text 6"/>
          <p:cNvSpPr/>
          <p:nvPr/>
        </p:nvSpPr>
        <p:spPr>
          <a:xfrm>
            <a:off x="6675120" y="2194560"/>
            <a:ext cx="4572000" cy="365760"/>
          </a:xfrm>
          <a:prstGeom prst="rect">
            <a:avLst/>
          </a:prstGeom>
          <a:noFill/>
          <a:ln/>
        </p:spPr>
        <p:txBody>
          <a:bodyPr wrap="square" rtlCol="0" anchor="ctr"/>
          <a:lstStyle/>
          <a:p>
            <a:pPr indent="0" marL="0">
              <a:buNone/>
            </a:pPr>
            <a:r>
              <a:rPr lang="en-US" sz="1600" b="1" dirty="0">
                <a:solidFill>
                  <a:srgbClr val="7B2FF7"/>
                </a:solidFill>
                <a:latin typeface="Calibri" pitchFamily="34" charset="0"/>
                <a:ea typeface="Calibri" pitchFamily="34" charset="-122"/>
                <a:cs typeface="Calibri" pitchFamily="34" charset="-120"/>
              </a:rPr>
              <a:t>AUDIO</a:t>
            </a:r>
            <a:endParaRPr lang="en-US" sz="1600" dirty="0"/>
          </a:p>
        </p:txBody>
      </p:sp>
      <p:sp>
        <p:nvSpPr>
          <p:cNvPr id="9" name="Shape 7"/>
          <p:cNvSpPr/>
          <p:nvPr/>
        </p:nvSpPr>
        <p:spPr>
          <a:xfrm>
            <a:off x="6675120" y="3177540"/>
            <a:ext cx="137160" cy="205740"/>
          </a:xfrm>
          <a:prstGeom prst="roundRect">
            <a:avLst>
              <a:gd name="adj" fmla="val 13333"/>
            </a:avLst>
          </a:prstGeom>
          <a:solidFill>
            <a:srgbClr val="00D4FF"/>
          </a:solidFill>
          <a:ln/>
        </p:spPr>
      </p:sp>
      <p:sp>
        <p:nvSpPr>
          <p:cNvPr id="10" name="Shape 8"/>
          <p:cNvSpPr/>
          <p:nvPr/>
        </p:nvSpPr>
        <p:spPr>
          <a:xfrm>
            <a:off x="6903720" y="3006090"/>
            <a:ext cx="137160" cy="377190"/>
          </a:xfrm>
          <a:prstGeom prst="roundRect">
            <a:avLst>
              <a:gd name="adj" fmla="val 13333"/>
            </a:avLst>
          </a:prstGeom>
          <a:solidFill>
            <a:srgbClr val="7B2FF7"/>
          </a:solidFill>
          <a:ln/>
        </p:spPr>
      </p:sp>
      <p:sp>
        <p:nvSpPr>
          <p:cNvPr id="11" name="Shape 9"/>
          <p:cNvSpPr/>
          <p:nvPr/>
        </p:nvSpPr>
        <p:spPr>
          <a:xfrm>
            <a:off x="7132320" y="3246120"/>
            <a:ext cx="137160" cy="137160"/>
          </a:xfrm>
          <a:prstGeom prst="roundRect">
            <a:avLst>
              <a:gd name="adj" fmla="val 13333"/>
            </a:avLst>
          </a:prstGeom>
          <a:solidFill>
            <a:srgbClr val="00D4FF"/>
          </a:solidFill>
          <a:ln/>
        </p:spPr>
      </p:sp>
      <p:sp>
        <p:nvSpPr>
          <p:cNvPr id="12" name="Shape 10"/>
          <p:cNvSpPr/>
          <p:nvPr/>
        </p:nvSpPr>
        <p:spPr>
          <a:xfrm>
            <a:off x="7360920" y="2903220"/>
            <a:ext cx="137160" cy="480060"/>
          </a:xfrm>
          <a:prstGeom prst="roundRect">
            <a:avLst>
              <a:gd name="adj" fmla="val 13333"/>
            </a:avLst>
          </a:prstGeom>
          <a:solidFill>
            <a:srgbClr val="7B2FF7"/>
          </a:solidFill>
          <a:ln/>
        </p:spPr>
      </p:sp>
      <p:sp>
        <p:nvSpPr>
          <p:cNvPr id="13" name="Shape 11"/>
          <p:cNvSpPr/>
          <p:nvPr/>
        </p:nvSpPr>
        <p:spPr>
          <a:xfrm>
            <a:off x="7589520" y="3108960"/>
            <a:ext cx="137160" cy="274320"/>
          </a:xfrm>
          <a:prstGeom prst="roundRect">
            <a:avLst>
              <a:gd name="adj" fmla="val 13333"/>
            </a:avLst>
          </a:prstGeom>
          <a:solidFill>
            <a:srgbClr val="00D4FF"/>
          </a:solidFill>
          <a:ln/>
        </p:spPr>
      </p:sp>
      <p:sp>
        <p:nvSpPr>
          <p:cNvPr id="14" name="Shape 12"/>
          <p:cNvSpPr/>
          <p:nvPr/>
        </p:nvSpPr>
        <p:spPr>
          <a:xfrm>
            <a:off x="7818120" y="2971800"/>
            <a:ext cx="137160" cy="411480"/>
          </a:xfrm>
          <a:prstGeom prst="roundRect">
            <a:avLst>
              <a:gd name="adj" fmla="val 13333"/>
            </a:avLst>
          </a:prstGeom>
          <a:solidFill>
            <a:srgbClr val="7B2FF7"/>
          </a:solidFill>
          <a:ln/>
        </p:spPr>
      </p:sp>
      <p:sp>
        <p:nvSpPr>
          <p:cNvPr id="15" name="Shape 13"/>
          <p:cNvSpPr/>
          <p:nvPr/>
        </p:nvSpPr>
        <p:spPr>
          <a:xfrm>
            <a:off x="8046720" y="3211830"/>
            <a:ext cx="137160" cy="171450"/>
          </a:xfrm>
          <a:prstGeom prst="roundRect">
            <a:avLst>
              <a:gd name="adj" fmla="val 13333"/>
            </a:avLst>
          </a:prstGeom>
          <a:solidFill>
            <a:srgbClr val="00D4FF"/>
          </a:solidFill>
          <a:ln/>
        </p:spPr>
      </p:sp>
      <p:sp>
        <p:nvSpPr>
          <p:cNvPr id="16" name="Shape 14"/>
          <p:cNvSpPr/>
          <p:nvPr/>
        </p:nvSpPr>
        <p:spPr>
          <a:xfrm>
            <a:off x="8275320" y="3040380"/>
            <a:ext cx="137160" cy="342900"/>
          </a:xfrm>
          <a:prstGeom prst="roundRect">
            <a:avLst>
              <a:gd name="adj" fmla="val 13333"/>
            </a:avLst>
          </a:prstGeom>
          <a:solidFill>
            <a:srgbClr val="7B2FF7"/>
          </a:solidFill>
          <a:ln/>
        </p:spPr>
      </p:sp>
      <p:sp>
        <p:nvSpPr>
          <p:cNvPr id="17" name="Shape 15"/>
          <p:cNvSpPr/>
          <p:nvPr/>
        </p:nvSpPr>
        <p:spPr>
          <a:xfrm>
            <a:off x="8503920" y="3143250"/>
            <a:ext cx="137160" cy="240030"/>
          </a:xfrm>
          <a:prstGeom prst="roundRect">
            <a:avLst>
              <a:gd name="adj" fmla="val 13333"/>
            </a:avLst>
          </a:prstGeom>
          <a:solidFill>
            <a:srgbClr val="00D4FF"/>
          </a:solidFill>
          <a:ln/>
        </p:spPr>
      </p:sp>
      <p:sp>
        <p:nvSpPr>
          <p:cNvPr id="18" name="Shape 16"/>
          <p:cNvSpPr/>
          <p:nvPr/>
        </p:nvSpPr>
        <p:spPr>
          <a:xfrm>
            <a:off x="8732520" y="2937510"/>
            <a:ext cx="137160" cy="445770"/>
          </a:xfrm>
          <a:prstGeom prst="roundRect">
            <a:avLst>
              <a:gd name="adj" fmla="val 13333"/>
            </a:avLst>
          </a:prstGeom>
          <a:solidFill>
            <a:srgbClr val="7B2FF7"/>
          </a:solidFill>
          <a:ln/>
        </p:spPr>
      </p:sp>
      <p:sp>
        <p:nvSpPr>
          <p:cNvPr id="19" name="Shape 17"/>
          <p:cNvSpPr/>
          <p:nvPr/>
        </p:nvSpPr>
        <p:spPr>
          <a:xfrm>
            <a:off x="8961120" y="3177540"/>
            <a:ext cx="137160" cy="205740"/>
          </a:xfrm>
          <a:prstGeom prst="roundRect">
            <a:avLst>
              <a:gd name="adj" fmla="val 13333"/>
            </a:avLst>
          </a:prstGeom>
          <a:solidFill>
            <a:srgbClr val="00D4FF"/>
          </a:solidFill>
          <a:ln/>
        </p:spPr>
      </p:sp>
      <p:sp>
        <p:nvSpPr>
          <p:cNvPr id="20" name="Shape 18"/>
          <p:cNvSpPr/>
          <p:nvPr/>
        </p:nvSpPr>
        <p:spPr>
          <a:xfrm>
            <a:off x="9189720" y="3074670"/>
            <a:ext cx="137160" cy="308610"/>
          </a:xfrm>
          <a:prstGeom prst="roundRect">
            <a:avLst>
              <a:gd name="adj" fmla="val 13333"/>
            </a:avLst>
          </a:prstGeom>
          <a:solidFill>
            <a:srgbClr val="7B2FF7"/>
          </a:solidFill>
          <a:ln/>
        </p:spPr>
      </p:sp>
      <p:sp>
        <p:nvSpPr>
          <p:cNvPr id="21" name="Shape 19"/>
          <p:cNvSpPr/>
          <p:nvPr/>
        </p:nvSpPr>
        <p:spPr>
          <a:xfrm>
            <a:off x="9418320" y="3246120"/>
            <a:ext cx="137160" cy="137160"/>
          </a:xfrm>
          <a:prstGeom prst="roundRect">
            <a:avLst>
              <a:gd name="adj" fmla="val 13333"/>
            </a:avLst>
          </a:prstGeom>
          <a:solidFill>
            <a:srgbClr val="00D4FF"/>
          </a:solidFill>
          <a:ln/>
        </p:spPr>
      </p:sp>
      <p:sp>
        <p:nvSpPr>
          <p:cNvPr id="22" name="Shape 20"/>
          <p:cNvSpPr/>
          <p:nvPr/>
        </p:nvSpPr>
        <p:spPr>
          <a:xfrm>
            <a:off x="9646920" y="3006090"/>
            <a:ext cx="137160" cy="377190"/>
          </a:xfrm>
          <a:prstGeom prst="roundRect">
            <a:avLst>
              <a:gd name="adj" fmla="val 13333"/>
            </a:avLst>
          </a:prstGeom>
          <a:solidFill>
            <a:srgbClr val="7B2FF7"/>
          </a:solidFill>
          <a:ln/>
        </p:spPr>
      </p:sp>
      <p:sp>
        <p:nvSpPr>
          <p:cNvPr id="23" name="Shape 21"/>
          <p:cNvSpPr/>
          <p:nvPr/>
        </p:nvSpPr>
        <p:spPr>
          <a:xfrm>
            <a:off x="9875520" y="3108960"/>
            <a:ext cx="137160" cy="274320"/>
          </a:xfrm>
          <a:prstGeom prst="roundRect">
            <a:avLst>
              <a:gd name="adj" fmla="val 13333"/>
            </a:avLst>
          </a:prstGeom>
          <a:solidFill>
            <a:srgbClr val="00D4FF"/>
          </a:solidFill>
          <a:ln/>
        </p:spPr>
      </p:sp>
      <p:sp>
        <p:nvSpPr>
          <p:cNvPr id="24" name="Shape 22"/>
          <p:cNvSpPr/>
          <p:nvPr/>
        </p:nvSpPr>
        <p:spPr>
          <a:xfrm>
            <a:off x="10104120" y="2971800"/>
            <a:ext cx="137160" cy="411480"/>
          </a:xfrm>
          <a:prstGeom prst="roundRect">
            <a:avLst>
              <a:gd name="adj" fmla="val 13333"/>
            </a:avLst>
          </a:prstGeom>
          <a:solidFill>
            <a:srgbClr val="7B2FF7"/>
          </a:solidFill>
          <a:ln/>
        </p:spPr>
      </p:sp>
      <p:sp>
        <p:nvSpPr>
          <p:cNvPr id="25" name="Shape 23"/>
          <p:cNvSpPr/>
          <p:nvPr/>
        </p:nvSpPr>
        <p:spPr>
          <a:xfrm>
            <a:off x="10332720" y="3177540"/>
            <a:ext cx="137160" cy="205740"/>
          </a:xfrm>
          <a:prstGeom prst="roundRect">
            <a:avLst>
              <a:gd name="adj" fmla="val 13333"/>
            </a:avLst>
          </a:prstGeom>
          <a:solidFill>
            <a:srgbClr val="00D4FF"/>
          </a:solidFill>
          <a:ln/>
        </p:spPr>
      </p:sp>
      <p:sp>
        <p:nvSpPr>
          <p:cNvPr id="26" name="Shape 24"/>
          <p:cNvSpPr/>
          <p:nvPr/>
        </p:nvSpPr>
        <p:spPr>
          <a:xfrm>
            <a:off x="10561320" y="3040380"/>
            <a:ext cx="137160" cy="342900"/>
          </a:xfrm>
          <a:prstGeom prst="roundRect">
            <a:avLst>
              <a:gd name="adj" fmla="val 13333"/>
            </a:avLst>
          </a:prstGeom>
          <a:solidFill>
            <a:srgbClr val="7B2FF7"/>
          </a:solidFill>
          <a:ln/>
        </p:spPr>
      </p:sp>
      <p:sp>
        <p:nvSpPr>
          <p:cNvPr id="27" name="Shape 25"/>
          <p:cNvSpPr/>
          <p:nvPr/>
        </p:nvSpPr>
        <p:spPr>
          <a:xfrm>
            <a:off x="10789920" y="3211830"/>
            <a:ext cx="137160" cy="171450"/>
          </a:xfrm>
          <a:prstGeom prst="roundRect">
            <a:avLst>
              <a:gd name="adj" fmla="val 13333"/>
            </a:avLst>
          </a:prstGeom>
          <a:solidFill>
            <a:srgbClr val="00D4FF"/>
          </a:solidFill>
          <a:ln/>
        </p:spPr>
      </p:sp>
      <p:sp>
        <p:nvSpPr>
          <p:cNvPr id="28" name="Shape 26"/>
          <p:cNvSpPr/>
          <p:nvPr/>
        </p:nvSpPr>
        <p:spPr>
          <a:xfrm>
            <a:off x="11018520" y="3108960"/>
            <a:ext cx="137160" cy="274320"/>
          </a:xfrm>
          <a:prstGeom prst="roundRect">
            <a:avLst>
              <a:gd name="adj" fmla="val 13333"/>
            </a:avLst>
          </a:prstGeom>
          <a:solidFill>
            <a:srgbClr val="7B2FF7"/>
          </a:solidFill>
          <a:ln/>
        </p:spPr>
      </p:sp>
      <p:sp>
        <p:nvSpPr>
          <p:cNvPr id="29" name="Text 27"/>
          <p:cNvSpPr/>
          <p:nvPr/>
        </p:nvSpPr>
        <p:spPr>
          <a:xfrm>
            <a:off x="6675120" y="3611880"/>
            <a:ext cx="4572000" cy="2286000"/>
          </a:xfrm>
          <a:prstGeom prst="rect">
            <a:avLst/>
          </a:prstGeom>
          <a:noFill/>
          <a:ln/>
        </p:spPr>
        <p:txBody>
          <a:bodyPr wrap="square" rtlCol="0" anchor="t"/>
          <a:lstStyle/>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Web Audio API로 절차적 생성 — 외부 음원 파일 없음</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베이스라인 + 리드 멜로디로 구성된 루프 배경음악</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점프 · 숙이기 · 사망 시 짧은 효과음</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브라우저 자동재생 정책 대응 (첫 입력 시 AudioContext 시작)</a:t>
            </a:r>
            <a:endParaRPr lang="en-US" sz="1300" dirty="0"/>
          </a:p>
          <a:p>
            <a:pPr marL="342900" indent="-342900">
              <a:spcAft>
                <a:spcPts val="1200"/>
              </a:spcAft>
              <a:buSzPct val="100000"/>
              <a:buChar char="▪"/>
            </a:pPr>
            <a:r>
              <a:rPr lang="en-US" sz="1300" dirty="0">
                <a:solidFill>
                  <a:srgbClr val="AEB4D6"/>
                </a:solidFill>
                <a:latin typeface="Calibri" pitchFamily="34" charset="0"/>
                <a:ea typeface="Calibri" pitchFamily="34" charset="-122"/>
                <a:cs typeface="Calibri" pitchFamily="34" charset="-120"/>
              </a:rPr>
              <a:t>우측 상단 음소거 토글 버튼 제공</a:t>
            </a:r>
            <a:endParaRPr lang="en-US" sz="1300" dirty="0"/>
          </a:p>
        </p:txBody>
      </p:sp>
      <p:sp>
        <p:nvSpPr>
          <p:cNvPr id="30" name="Text 28"/>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PROCESS</a:t>
            </a:r>
            <a:endParaRPr lang="en-US" sz="1200" dirty="0"/>
          </a:p>
        </p:txBody>
      </p:sp>
      <p:sp>
        <p:nvSpPr>
          <p:cNvPr id="3" name="Text 1"/>
          <p:cNvSpPr/>
          <p:nvPr/>
        </p:nvSpPr>
        <p:spPr>
          <a:xfrm>
            <a:off x="548640" y="731520"/>
            <a:ext cx="100584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개발 과정 — WorkBuddy 활용 방식</a:t>
            </a:r>
            <a:endParaRPr lang="en-US" sz="3000" dirty="0"/>
          </a:p>
        </p:txBody>
      </p:sp>
      <p:sp>
        <p:nvSpPr>
          <p:cNvPr id="4" name="Text 2"/>
          <p:cNvSpPr/>
          <p:nvPr/>
        </p:nvSpPr>
        <p:spPr>
          <a:xfrm>
            <a:off x="548640" y="1371600"/>
            <a:ext cx="10058400" cy="365760"/>
          </a:xfrm>
          <a:prstGeom prst="rect">
            <a:avLst/>
          </a:prstGeom>
          <a:noFill/>
          <a:ln/>
        </p:spPr>
        <p:txBody>
          <a:bodyPr wrap="square" rtlCol="0" anchor="ctr"/>
          <a:lstStyle/>
          <a:p>
            <a:pPr indent="0" marL="0">
              <a:buNone/>
            </a:pPr>
            <a:r>
              <a:rPr lang="en-US" sz="1300" dirty="0">
                <a:solidFill>
                  <a:srgbClr val="AEB4D6"/>
                </a:solidFill>
                <a:latin typeface="Calibri" pitchFamily="34" charset="0"/>
                <a:ea typeface="Calibri" pitchFamily="34" charset="-122"/>
                <a:cs typeface="Calibri" pitchFamily="34" charset="-120"/>
              </a:rPr>
              <a:t>AI 팀에게 순차적으로 요청 → 실제 테스트 → 피드백을 반복하는 방식으로 진행</a:t>
            </a:r>
            <a:endParaRPr lang="en-US" sz="1300" dirty="0"/>
          </a:p>
        </p:txBody>
      </p:sp>
      <p:sp>
        <p:nvSpPr>
          <p:cNvPr id="5" name="Shape 3"/>
          <p:cNvSpPr/>
          <p:nvPr/>
        </p:nvSpPr>
        <p:spPr>
          <a:xfrm>
            <a:off x="548640" y="2331720"/>
            <a:ext cx="2514600" cy="3291840"/>
          </a:xfrm>
          <a:prstGeom prst="roundRect">
            <a:avLst>
              <a:gd name="adj" fmla="val 4364"/>
            </a:avLst>
          </a:prstGeom>
          <a:solidFill>
            <a:srgbClr val="232946"/>
          </a:solidFill>
          <a:ln/>
        </p:spPr>
      </p:sp>
      <p:sp>
        <p:nvSpPr>
          <p:cNvPr id="6" name="Shape 4"/>
          <p:cNvSpPr/>
          <p:nvPr/>
        </p:nvSpPr>
        <p:spPr>
          <a:xfrm>
            <a:off x="777240" y="2587752"/>
            <a:ext cx="502920" cy="502920"/>
          </a:xfrm>
          <a:prstGeom prst="ellipse">
            <a:avLst/>
          </a:prstGeom>
          <a:solidFill>
            <a:srgbClr val="00D4FF"/>
          </a:solidFill>
          <a:ln/>
        </p:spPr>
      </p:sp>
      <p:sp>
        <p:nvSpPr>
          <p:cNvPr id="7" name="Text 5"/>
          <p:cNvSpPr/>
          <p:nvPr/>
        </p:nvSpPr>
        <p:spPr>
          <a:xfrm>
            <a:off x="777240" y="2587752"/>
            <a:ext cx="502920" cy="502920"/>
          </a:xfrm>
          <a:prstGeom prst="rect">
            <a:avLst/>
          </a:prstGeom>
          <a:noFill/>
          <a:ln/>
        </p:spPr>
        <p:txBody>
          <a:bodyPr wrap="square" rtlCol="0" anchor="ctr"/>
          <a:lstStyle/>
          <a:p>
            <a:pPr algn="ctr" indent="0" marL="0">
              <a:buNone/>
            </a:pPr>
            <a:r>
              <a:rPr lang="en-US" sz="1800" b="1" dirty="0">
                <a:solidFill>
                  <a:srgbClr val="1A1A2E"/>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77240" y="3246120"/>
            <a:ext cx="205740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기본 프로토타입</a:t>
            </a:r>
            <a:endParaRPr lang="en-US" sz="1450" dirty="0"/>
          </a:p>
        </p:txBody>
      </p:sp>
      <p:sp>
        <p:nvSpPr>
          <p:cNvPr id="9" name="Text 7"/>
          <p:cNvSpPr/>
          <p:nvPr/>
        </p:nvSpPr>
        <p:spPr>
          <a:xfrm>
            <a:off x="777240" y="3749040"/>
            <a:ext cx="2057400" cy="1691640"/>
          </a:xfrm>
          <a:prstGeom prst="rect">
            <a:avLst/>
          </a:prstGeom>
          <a:noFill/>
          <a:ln/>
        </p:spPr>
        <p:txBody>
          <a:bodyPr wrap="square" lIns="0" tIns="0" rIns="0" bIns="0" rtlCol="0" anchor="t"/>
          <a:lstStyle/>
          <a:p>
            <a:pPr indent="0" marL="0">
              <a:buNone/>
            </a:pPr>
            <a:r>
              <a:rPr lang="en-US" sz="1100" dirty="0">
                <a:solidFill>
                  <a:srgbClr val="AEB4D6"/>
                </a:solidFill>
                <a:latin typeface="Calibri" pitchFamily="34" charset="0"/>
                <a:ea typeface="Calibri" pitchFamily="34" charset="-122"/>
                <a:cs typeface="Calibri" pitchFamily="34" charset="-120"/>
              </a:rPr>
              <a:t>지오메트리 대시 스타일 기본 점프 게임 구조 요청</a:t>
            </a:r>
            <a:endParaRPr lang="en-US" sz="1100" dirty="0"/>
          </a:p>
        </p:txBody>
      </p:sp>
      <p:sp>
        <p:nvSpPr>
          <p:cNvPr id="10" name="Text 8"/>
          <p:cNvSpPr/>
          <p:nvPr/>
        </p:nvSpPr>
        <p:spPr>
          <a:xfrm>
            <a:off x="3017520" y="3703320"/>
            <a:ext cx="320040" cy="457200"/>
          </a:xfrm>
          <a:prstGeom prst="rect">
            <a:avLst/>
          </a:prstGeom>
          <a:noFill/>
          <a:ln/>
        </p:spPr>
        <p:txBody>
          <a:bodyPr wrap="square" rtlCol="0" anchor="ctr"/>
          <a:lstStyle/>
          <a:p>
            <a:pPr algn="ctr" indent="0" marL="0">
              <a:buNone/>
            </a:pPr>
            <a:r>
              <a:rPr lang="en-US" sz="1800" b="1" dirty="0">
                <a:solidFill>
                  <a:srgbClr val="8A90B8"/>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291840" y="2331720"/>
            <a:ext cx="2514600" cy="3291840"/>
          </a:xfrm>
          <a:prstGeom prst="roundRect">
            <a:avLst>
              <a:gd name="adj" fmla="val 4364"/>
            </a:avLst>
          </a:prstGeom>
          <a:solidFill>
            <a:srgbClr val="232946"/>
          </a:solidFill>
          <a:ln/>
        </p:spPr>
      </p:sp>
      <p:sp>
        <p:nvSpPr>
          <p:cNvPr id="12" name="Shape 10"/>
          <p:cNvSpPr/>
          <p:nvPr/>
        </p:nvSpPr>
        <p:spPr>
          <a:xfrm>
            <a:off x="3520440" y="2587752"/>
            <a:ext cx="502920" cy="502920"/>
          </a:xfrm>
          <a:prstGeom prst="ellipse">
            <a:avLst/>
          </a:prstGeom>
          <a:solidFill>
            <a:srgbClr val="7B2FF7"/>
          </a:solidFill>
          <a:ln/>
        </p:spPr>
      </p:sp>
      <p:sp>
        <p:nvSpPr>
          <p:cNvPr id="13" name="Text 11"/>
          <p:cNvSpPr/>
          <p:nvPr/>
        </p:nvSpPr>
        <p:spPr>
          <a:xfrm>
            <a:off x="3520440" y="2587752"/>
            <a:ext cx="502920" cy="502920"/>
          </a:xfrm>
          <a:prstGeom prst="rect">
            <a:avLst/>
          </a:prstGeom>
          <a:noFill/>
          <a:ln/>
        </p:spPr>
        <p:txBody>
          <a:bodyPr wrap="square" rtlCol="0" anchor="ctr"/>
          <a:lstStyle/>
          <a:p>
            <a:pPr algn="ctr" indent="0" marL="0">
              <a:buNone/>
            </a:pPr>
            <a:r>
              <a:rPr lang="en-US" sz="1800" b="1" dirty="0">
                <a:solidFill>
                  <a:srgbClr val="1A1A2E"/>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520440" y="3246120"/>
            <a:ext cx="205740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조작 확장</a:t>
            </a:r>
            <a:endParaRPr lang="en-US" sz="1450" dirty="0"/>
          </a:p>
        </p:txBody>
      </p:sp>
      <p:sp>
        <p:nvSpPr>
          <p:cNvPr id="15" name="Text 13"/>
          <p:cNvSpPr/>
          <p:nvPr/>
        </p:nvSpPr>
        <p:spPr>
          <a:xfrm>
            <a:off x="3520440" y="3749040"/>
            <a:ext cx="2057400" cy="1691640"/>
          </a:xfrm>
          <a:prstGeom prst="rect">
            <a:avLst/>
          </a:prstGeom>
          <a:noFill/>
          <a:ln/>
        </p:spPr>
        <p:txBody>
          <a:bodyPr wrap="square" lIns="0" tIns="0" rIns="0" bIns="0" rtlCol="0" anchor="t"/>
          <a:lstStyle/>
          <a:p>
            <a:pPr indent="0" marL="0">
              <a:buNone/>
            </a:pPr>
            <a:r>
              <a:rPr lang="en-US" sz="1100" dirty="0">
                <a:solidFill>
                  <a:srgbClr val="AEB4D6"/>
                </a:solidFill>
                <a:latin typeface="Calibri" pitchFamily="34" charset="0"/>
                <a:ea typeface="Calibri" pitchFamily="34" charset="-122"/>
                <a:cs typeface="Calibri" pitchFamily="34" charset="-120"/>
              </a:rPr>
              <a:t>더블 점프, 숙이기(Duck) 기능 및 방향키 조작 추가</a:t>
            </a:r>
            <a:endParaRPr lang="en-US" sz="1100" dirty="0"/>
          </a:p>
        </p:txBody>
      </p:sp>
      <p:sp>
        <p:nvSpPr>
          <p:cNvPr id="16" name="Text 14"/>
          <p:cNvSpPr/>
          <p:nvPr/>
        </p:nvSpPr>
        <p:spPr>
          <a:xfrm>
            <a:off x="5760720" y="3703320"/>
            <a:ext cx="320040" cy="457200"/>
          </a:xfrm>
          <a:prstGeom prst="rect">
            <a:avLst/>
          </a:prstGeom>
          <a:noFill/>
          <a:ln/>
        </p:spPr>
        <p:txBody>
          <a:bodyPr wrap="square" rtlCol="0" anchor="ctr"/>
          <a:lstStyle/>
          <a:p>
            <a:pPr algn="ctr" indent="0" marL="0">
              <a:buNone/>
            </a:pPr>
            <a:r>
              <a:rPr lang="en-US" sz="1800" b="1" dirty="0">
                <a:solidFill>
                  <a:srgbClr val="8A90B8"/>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035040" y="2331720"/>
            <a:ext cx="2514600" cy="3291840"/>
          </a:xfrm>
          <a:prstGeom prst="roundRect">
            <a:avLst>
              <a:gd name="adj" fmla="val 4364"/>
            </a:avLst>
          </a:prstGeom>
          <a:solidFill>
            <a:srgbClr val="232946"/>
          </a:solidFill>
          <a:ln/>
        </p:spPr>
      </p:sp>
      <p:sp>
        <p:nvSpPr>
          <p:cNvPr id="18" name="Shape 16"/>
          <p:cNvSpPr/>
          <p:nvPr/>
        </p:nvSpPr>
        <p:spPr>
          <a:xfrm>
            <a:off x="6263640" y="2587752"/>
            <a:ext cx="502920" cy="502920"/>
          </a:xfrm>
          <a:prstGeom prst="ellipse">
            <a:avLst/>
          </a:prstGeom>
          <a:solidFill>
            <a:srgbClr val="FF9F1C"/>
          </a:solidFill>
          <a:ln/>
        </p:spPr>
      </p:sp>
      <p:sp>
        <p:nvSpPr>
          <p:cNvPr id="19" name="Text 17"/>
          <p:cNvSpPr/>
          <p:nvPr/>
        </p:nvSpPr>
        <p:spPr>
          <a:xfrm>
            <a:off x="6263640" y="2587752"/>
            <a:ext cx="502920" cy="502920"/>
          </a:xfrm>
          <a:prstGeom prst="rect">
            <a:avLst/>
          </a:prstGeom>
          <a:noFill/>
          <a:ln/>
        </p:spPr>
        <p:txBody>
          <a:bodyPr wrap="square" rtlCol="0" anchor="ctr"/>
          <a:lstStyle/>
          <a:p>
            <a:pPr algn="ctr" indent="0" marL="0">
              <a:buNone/>
            </a:pPr>
            <a:r>
              <a:rPr lang="en-US" sz="1800" b="1" dirty="0">
                <a:solidFill>
                  <a:srgbClr val="1A1A2E"/>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263640" y="3246120"/>
            <a:ext cx="205740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콘텐츠 강화</a:t>
            </a:r>
            <a:endParaRPr lang="en-US" sz="1450" dirty="0"/>
          </a:p>
        </p:txBody>
      </p:sp>
      <p:sp>
        <p:nvSpPr>
          <p:cNvPr id="21" name="Text 19"/>
          <p:cNvSpPr/>
          <p:nvPr/>
        </p:nvSpPr>
        <p:spPr>
          <a:xfrm>
            <a:off x="6263640" y="3749040"/>
            <a:ext cx="2057400" cy="1691640"/>
          </a:xfrm>
          <a:prstGeom prst="rect">
            <a:avLst/>
          </a:prstGeom>
          <a:noFill/>
          <a:ln/>
        </p:spPr>
        <p:txBody>
          <a:bodyPr wrap="square" lIns="0" tIns="0" rIns="0" bIns="0" rtlCol="0" anchor="t"/>
          <a:lstStyle/>
          <a:p>
            <a:pPr indent="0" marL="0">
              <a:buNone/>
            </a:pPr>
            <a:r>
              <a:rPr lang="en-US" sz="1100" dirty="0">
                <a:solidFill>
                  <a:srgbClr val="AEB4D6"/>
                </a:solidFill>
                <a:latin typeface="Calibri" pitchFamily="34" charset="0"/>
                <a:ea typeface="Calibri" pitchFamily="34" charset="-122"/>
                <a:cs typeface="Calibri" pitchFamily="34" charset="-120"/>
              </a:rPr>
              <a:t>패턴 장애물 · 캐릭터 트레일 · 배경음악 · 난이도 선택 추가</a:t>
            </a:r>
            <a:endParaRPr lang="en-US" sz="1100" dirty="0"/>
          </a:p>
        </p:txBody>
      </p:sp>
      <p:sp>
        <p:nvSpPr>
          <p:cNvPr id="22" name="Text 20"/>
          <p:cNvSpPr/>
          <p:nvPr/>
        </p:nvSpPr>
        <p:spPr>
          <a:xfrm>
            <a:off x="8503920" y="3703320"/>
            <a:ext cx="320040" cy="457200"/>
          </a:xfrm>
          <a:prstGeom prst="rect">
            <a:avLst/>
          </a:prstGeom>
          <a:noFill/>
          <a:ln/>
        </p:spPr>
        <p:txBody>
          <a:bodyPr wrap="square" rtlCol="0" anchor="ctr"/>
          <a:lstStyle/>
          <a:p>
            <a:pPr algn="ctr" indent="0" marL="0">
              <a:buNone/>
            </a:pPr>
            <a:r>
              <a:rPr lang="en-US" sz="1800" b="1" dirty="0">
                <a:solidFill>
                  <a:srgbClr val="8A90B8"/>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8778240" y="2331720"/>
            <a:ext cx="2514600" cy="3291840"/>
          </a:xfrm>
          <a:prstGeom prst="roundRect">
            <a:avLst>
              <a:gd name="adj" fmla="val 4364"/>
            </a:avLst>
          </a:prstGeom>
          <a:solidFill>
            <a:srgbClr val="232946"/>
          </a:solidFill>
          <a:ln/>
        </p:spPr>
      </p:sp>
      <p:sp>
        <p:nvSpPr>
          <p:cNvPr id="24" name="Shape 22"/>
          <p:cNvSpPr/>
          <p:nvPr/>
        </p:nvSpPr>
        <p:spPr>
          <a:xfrm>
            <a:off x="9006840" y="2587752"/>
            <a:ext cx="502920" cy="502920"/>
          </a:xfrm>
          <a:prstGeom prst="ellipse">
            <a:avLst/>
          </a:prstGeom>
          <a:solidFill>
            <a:srgbClr val="E94560"/>
          </a:solidFill>
          <a:ln/>
        </p:spPr>
      </p:sp>
      <p:sp>
        <p:nvSpPr>
          <p:cNvPr id="25" name="Text 23"/>
          <p:cNvSpPr/>
          <p:nvPr/>
        </p:nvSpPr>
        <p:spPr>
          <a:xfrm>
            <a:off x="9006840" y="2587752"/>
            <a:ext cx="502920" cy="502920"/>
          </a:xfrm>
          <a:prstGeom prst="rect">
            <a:avLst/>
          </a:prstGeom>
          <a:noFill/>
          <a:ln/>
        </p:spPr>
        <p:txBody>
          <a:bodyPr wrap="square" rtlCol="0" anchor="ctr"/>
          <a:lstStyle/>
          <a:p>
            <a:pPr algn="ctr" indent="0" marL="0">
              <a:buNone/>
            </a:pPr>
            <a:r>
              <a:rPr lang="en-US" sz="1800" b="1" dirty="0">
                <a:solidFill>
                  <a:srgbClr val="1A1A2E"/>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9006840" y="3246120"/>
            <a:ext cx="205740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밸런스 수정</a:t>
            </a:r>
            <a:endParaRPr lang="en-US" sz="1450" dirty="0"/>
          </a:p>
        </p:txBody>
      </p:sp>
      <p:sp>
        <p:nvSpPr>
          <p:cNvPr id="27" name="Text 25"/>
          <p:cNvSpPr/>
          <p:nvPr/>
        </p:nvSpPr>
        <p:spPr>
          <a:xfrm>
            <a:off x="9006840" y="3749040"/>
            <a:ext cx="2057400" cy="1691640"/>
          </a:xfrm>
          <a:prstGeom prst="rect">
            <a:avLst/>
          </a:prstGeom>
          <a:noFill/>
          <a:ln/>
        </p:spPr>
        <p:txBody>
          <a:bodyPr wrap="square" lIns="0" tIns="0" rIns="0" bIns="0" rtlCol="0" anchor="t"/>
          <a:lstStyle/>
          <a:p>
            <a:pPr indent="0" marL="0">
              <a:buNone/>
            </a:pPr>
            <a:r>
              <a:rPr lang="en-US" sz="1100" dirty="0">
                <a:solidFill>
                  <a:srgbClr val="AEB4D6"/>
                </a:solidFill>
                <a:latin typeface="Calibri" pitchFamily="34" charset="0"/>
                <a:ea typeface="Calibri" pitchFamily="34" charset="-122"/>
                <a:cs typeface="Calibri" pitchFamily="34" charset="-120"/>
              </a:rPr>
              <a:t>하드 모드 즉사 버그 발견 → 속도-간격 스케일링 로직 재설계</a:t>
            </a:r>
            <a:endParaRPr lang="en-US" sz="1100" dirty="0"/>
          </a:p>
        </p:txBody>
      </p:sp>
      <p:sp>
        <p:nvSpPr>
          <p:cNvPr id="28" name="Text 26"/>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RESULT</a:t>
            </a:r>
            <a:endParaRPr lang="en-US" sz="1200" dirty="0"/>
          </a:p>
        </p:txBody>
      </p:sp>
      <p:sp>
        <p:nvSpPr>
          <p:cNvPr id="3" name="Text 1"/>
          <p:cNvSpPr/>
          <p:nvPr/>
        </p:nvSpPr>
        <p:spPr>
          <a:xfrm>
            <a:off x="548640" y="777240"/>
            <a:ext cx="73152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결과물</a:t>
            </a:r>
            <a:endParaRPr lang="en-US" sz="3000" dirty="0"/>
          </a:p>
        </p:txBody>
      </p:sp>
      <p:sp>
        <p:nvSpPr>
          <p:cNvPr id="4" name="Text 2"/>
          <p:cNvSpPr/>
          <p:nvPr/>
        </p:nvSpPr>
        <p:spPr>
          <a:xfrm>
            <a:off x="548640" y="1325880"/>
            <a:ext cx="9144000" cy="365760"/>
          </a:xfrm>
          <a:prstGeom prst="rect">
            <a:avLst/>
          </a:prstGeom>
          <a:noFill/>
          <a:ln/>
        </p:spPr>
        <p:txBody>
          <a:bodyPr wrap="square" rtlCol="0" anchor="ctr"/>
          <a:lstStyle/>
          <a:p>
            <a:pPr indent="0" marL="0">
              <a:buNone/>
            </a:pPr>
            <a:r>
              <a:rPr lang="en-US" sz="1300" dirty="0">
                <a:solidFill>
                  <a:srgbClr val="AEB4D6"/>
                </a:solidFill>
                <a:latin typeface="Calibri" pitchFamily="34" charset="0"/>
                <a:ea typeface="Calibri" pitchFamily="34" charset="-122"/>
                <a:cs typeface="Calibri" pitchFamily="34" charset="-120"/>
              </a:rPr>
              <a:t>완성된 게임 화면 — 실제 플레이 가능한 단일 HTML 파일</a:t>
            </a:r>
            <a:endParaRPr lang="en-US" sz="1300" dirty="0"/>
          </a:p>
        </p:txBody>
      </p:sp>
      <p:sp>
        <p:nvSpPr>
          <p:cNvPr id="5" name="Shape 3"/>
          <p:cNvSpPr/>
          <p:nvPr/>
        </p:nvSpPr>
        <p:spPr>
          <a:xfrm>
            <a:off x="768096" y="1819656"/>
            <a:ext cx="7424928" cy="4041648"/>
          </a:xfrm>
          <a:prstGeom prst="roundRect">
            <a:avLst>
              <a:gd name="adj" fmla="val 1810"/>
            </a:avLst>
          </a:prstGeom>
          <a:ln w="25400">
            <a:solidFill>
              <a:srgbClr val="7B2FF7"/>
            </a:solidFill>
            <a:prstDash val="solid"/>
          </a:ln>
        </p:spPr>
      </p:sp>
      <p:sp>
        <p:nvSpPr>
          <p:cNvPr id="6" name="Shape 4"/>
          <p:cNvSpPr/>
          <p:nvPr/>
        </p:nvSpPr>
        <p:spPr>
          <a:xfrm>
            <a:off x="822960" y="1874520"/>
            <a:ext cx="7315200" cy="3931920"/>
          </a:xfrm>
          <a:prstGeom prst="rect">
            <a:avLst/>
          </a:prstGeom>
          <a:solidFill>
            <a:srgbClr val="16213E"/>
          </a:solidFill>
          <a:ln/>
        </p:spPr>
      </p:sp>
      <p:sp>
        <p:nvSpPr>
          <p:cNvPr id="7" name="Shape 5"/>
          <p:cNvSpPr/>
          <p:nvPr/>
        </p:nvSpPr>
        <p:spPr>
          <a:xfrm>
            <a:off x="1188720" y="1874520"/>
            <a:ext cx="0" cy="3931920"/>
          </a:xfrm>
          <a:prstGeom prst="line">
            <a:avLst/>
          </a:prstGeom>
          <a:noFill/>
          <a:ln w="6350">
            <a:solidFill>
              <a:srgbClr val="FFFFFF">
                <a:alpha val="7000"/>
              </a:srgbClr>
            </a:solidFill>
            <a:prstDash val="solid"/>
          </a:ln>
        </p:spPr>
      </p:sp>
      <p:sp>
        <p:nvSpPr>
          <p:cNvPr id="8" name="Shape 6"/>
          <p:cNvSpPr/>
          <p:nvPr/>
        </p:nvSpPr>
        <p:spPr>
          <a:xfrm>
            <a:off x="1691640" y="1874520"/>
            <a:ext cx="0" cy="3931920"/>
          </a:xfrm>
          <a:prstGeom prst="line">
            <a:avLst/>
          </a:prstGeom>
          <a:noFill/>
          <a:ln w="6350">
            <a:solidFill>
              <a:srgbClr val="FFFFFF">
                <a:alpha val="7000"/>
              </a:srgbClr>
            </a:solidFill>
            <a:prstDash val="solid"/>
          </a:ln>
        </p:spPr>
      </p:sp>
      <p:sp>
        <p:nvSpPr>
          <p:cNvPr id="9" name="Shape 7"/>
          <p:cNvSpPr/>
          <p:nvPr/>
        </p:nvSpPr>
        <p:spPr>
          <a:xfrm>
            <a:off x="2194560" y="1874520"/>
            <a:ext cx="0" cy="3931920"/>
          </a:xfrm>
          <a:prstGeom prst="line">
            <a:avLst/>
          </a:prstGeom>
          <a:noFill/>
          <a:ln w="6350">
            <a:solidFill>
              <a:srgbClr val="FFFFFF">
                <a:alpha val="7000"/>
              </a:srgbClr>
            </a:solidFill>
            <a:prstDash val="solid"/>
          </a:ln>
        </p:spPr>
      </p:sp>
      <p:sp>
        <p:nvSpPr>
          <p:cNvPr id="10" name="Shape 8"/>
          <p:cNvSpPr/>
          <p:nvPr/>
        </p:nvSpPr>
        <p:spPr>
          <a:xfrm>
            <a:off x="2697480" y="1874520"/>
            <a:ext cx="0" cy="3931920"/>
          </a:xfrm>
          <a:prstGeom prst="line">
            <a:avLst/>
          </a:prstGeom>
          <a:noFill/>
          <a:ln w="6350">
            <a:solidFill>
              <a:srgbClr val="FFFFFF">
                <a:alpha val="7000"/>
              </a:srgbClr>
            </a:solidFill>
            <a:prstDash val="solid"/>
          </a:ln>
        </p:spPr>
      </p:sp>
      <p:sp>
        <p:nvSpPr>
          <p:cNvPr id="11" name="Shape 9"/>
          <p:cNvSpPr/>
          <p:nvPr/>
        </p:nvSpPr>
        <p:spPr>
          <a:xfrm>
            <a:off x="3200400" y="1874520"/>
            <a:ext cx="0" cy="3931920"/>
          </a:xfrm>
          <a:prstGeom prst="line">
            <a:avLst/>
          </a:prstGeom>
          <a:noFill/>
          <a:ln w="6350">
            <a:solidFill>
              <a:srgbClr val="FFFFFF">
                <a:alpha val="7000"/>
              </a:srgbClr>
            </a:solidFill>
            <a:prstDash val="solid"/>
          </a:ln>
        </p:spPr>
      </p:sp>
      <p:sp>
        <p:nvSpPr>
          <p:cNvPr id="12" name="Shape 10"/>
          <p:cNvSpPr/>
          <p:nvPr/>
        </p:nvSpPr>
        <p:spPr>
          <a:xfrm>
            <a:off x="3703320" y="1874520"/>
            <a:ext cx="0" cy="3931920"/>
          </a:xfrm>
          <a:prstGeom prst="line">
            <a:avLst/>
          </a:prstGeom>
          <a:noFill/>
          <a:ln w="6350">
            <a:solidFill>
              <a:srgbClr val="FFFFFF">
                <a:alpha val="7000"/>
              </a:srgbClr>
            </a:solidFill>
            <a:prstDash val="solid"/>
          </a:ln>
        </p:spPr>
      </p:sp>
      <p:sp>
        <p:nvSpPr>
          <p:cNvPr id="13" name="Shape 11"/>
          <p:cNvSpPr/>
          <p:nvPr/>
        </p:nvSpPr>
        <p:spPr>
          <a:xfrm>
            <a:off x="4206240" y="1874520"/>
            <a:ext cx="0" cy="3931920"/>
          </a:xfrm>
          <a:prstGeom prst="line">
            <a:avLst/>
          </a:prstGeom>
          <a:noFill/>
          <a:ln w="6350">
            <a:solidFill>
              <a:srgbClr val="FFFFFF">
                <a:alpha val="7000"/>
              </a:srgbClr>
            </a:solidFill>
            <a:prstDash val="solid"/>
          </a:ln>
        </p:spPr>
      </p:sp>
      <p:sp>
        <p:nvSpPr>
          <p:cNvPr id="14" name="Shape 12"/>
          <p:cNvSpPr/>
          <p:nvPr/>
        </p:nvSpPr>
        <p:spPr>
          <a:xfrm>
            <a:off x="4709160" y="1874520"/>
            <a:ext cx="0" cy="3931920"/>
          </a:xfrm>
          <a:prstGeom prst="line">
            <a:avLst/>
          </a:prstGeom>
          <a:noFill/>
          <a:ln w="6350">
            <a:solidFill>
              <a:srgbClr val="FFFFFF">
                <a:alpha val="7000"/>
              </a:srgbClr>
            </a:solidFill>
            <a:prstDash val="solid"/>
          </a:ln>
        </p:spPr>
      </p:sp>
      <p:sp>
        <p:nvSpPr>
          <p:cNvPr id="15" name="Shape 13"/>
          <p:cNvSpPr/>
          <p:nvPr/>
        </p:nvSpPr>
        <p:spPr>
          <a:xfrm>
            <a:off x="5212080" y="1874520"/>
            <a:ext cx="0" cy="3931920"/>
          </a:xfrm>
          <a:prstGeom prst="line">
            <a:avLst/>
          </a:prstGeom>
          <a:noFill/>
          <a:ln w="6350">
            <a:solidFill>
              <a:srgbClr val="FFFFFF">
                <a:alpha val="7000"/>
              </a:srgbClr>
            </a:solidFill>
            <a:prstDash val="solid"/>
          </a:ln>
        </p:spPr>
      </p:sp>
      <p:sp>
        <p:nvSpPr>
          <p:cNvPr id="16" name="Shape 14"/>
          <p:cNvSpPr/>
          <p:nvPr/>
        </p:nvSpPr>
        <p:spPr>
          <a:xfrm>
            <a:off x="5715000" y="1874520"/>
            <a:ext cx="0" cy="3931920"/>
          </a:xfrm>
          <a:prstGeom prst="line">
            <a:avLst/>
          </a:prstGeom>
          <a:noFill/>
          <a:ln w="6350">
            <a:solidFill>
              <a:srgbClr val="FFFFFF">
                <a:alpha val="7000"/>
              </a:srgbClr>
            </a:solidFill>
            <a:prstDash val="solid"/>
          </a:ln>
        </p:spPr>
      </p:sp>
      <p:sp>
        <p:nvSpPr>
          <p:cNvPr id="17" name="Shape 15"/>
          <p:cNvSpPr/>
          <p:nvPr/>
        </p:nvSpPr>
        <p:spPr>
          <a:xfrm>
            <a:off x="6217920" y="1874520"/>
            <a:ext cx="0" cy="3931920"/>
          </a:xfrm>
          <a:prstGeom prst="line">
            <a:avLst/>
          </a:prstGeom>
          <a:noFill/>
          <a:ln w="6350">
            <a:solidFill>
              <a:srgbClr val="FFFFFF">
                <a:alpha val="7000"/>
              </a:srgbClr>
            </a:solidFill>
            <a:prstDash val="solid"/>
          </a:ln>
        </p:spPr>
      </p:sp>
      <p:sp>
        <p:nvSpPr>
          <p:cNvPr id="18" name="Shape 16"/>
          <p:cNvSpPr/>
          <p:nvPr/>
        </p:nvSpPr>
        <p:spPr>
          <a:xfrm>
            <a:off x="6720840" y="1874520"/>
            <a:ext cx="0" cy="3931920"/>
          </a:xfrm>
          <a:prstGeom prst="line">
            <a:avLst/>
          </a:prstGeom>
          <a:noFill/>
          <a:ln w="6350">
            <a:solidFill>
              <a:srgbClr val="FFFFFF">
                <a:alpha val="7000"/>
              </a:srgbClr>
            </a:solidFill>
            <a:prstDash val="solid"/>
          </a:ln>
        </p:spPr>
      </p:sp>
      <p:sp>
        <p:nvSpPr>
          <p:cNvPr id="19" name="Shape 17"/>
          <p:cNvSpPr/>
          <p:nvPr/>
        </p:nvSpPr>
        <p:spPr>
          <a:xfrm>
            <a:off x="7223760" y="1874520"/>
            <a:ext cx="0" cy="3931920"/>
          </a:xfrm>
          <a:prstGeom prst="line">
            <a:avLst/>
          </a:prstGeom>
          <a:noFill/>
          <a:ln w="6350">
            <a:solidFill>
              <a:srgbClr val="FFFFFF">
                <a:alpha val="7000"/>
              </a:srgbClr>
            </a:solidFill>
            <a:prstDash val="solid"/>
          </a:ln>
        </p:spPr>
      </p:sp>
      <p:sp>
        <p:nvSpPr>
          <p:cNvPr id="20" name="Shape 18"/>
          <p:cNvSpPr/>
          <p:nvPr/>
        </p:nvSpPr>
        <p:spPr>
          <a:xfrm>
            <a:off x="7726680" y="1874520"/>
            <a:ext cx="0" cy="3931920"/>
          </a:xfrm>
          <a:prstGeom prst="line">
            <a:avLst/>
          </a:prstGeom>
          <a:noFill/>
          <a:ln w="6350">
            <a:solidFill>
              <a:srgbClr val="FFFFFF">
                <a:alpha val="7000"/>
              </a:srgbClr>
            </a:solidFill>
            <a:prstDash val="solid"/>
          </a:ln>
        </p:spPr>
      </p:sp>
      <p:sp>
        <p:nvSpPr>
          <p:cNvPr id="21" name="Shape 19"/>
          <p:cNvSpPr/>
          <p:nvPr/>
        </p:nvSpPr>
        <p:spPr>
          <a:xfrm>
            <a:off x="822960" y="5029200"/>
            <a:ext cx="7315200" cy="777240"/>
          </a:xfrm>
          <a:prstGeom prst="rect">
            <a:avLst/>
          </a:prstGeom>
          <a:solidFill>
            <a:srgbClr val="533483"/>
          </a:solidFill>
          <a:ln/>
        </p:spPr>
      </p:sp>
      <p:sp>
        <p:nvSpPr>
          <p:cNvPr id="22" name="Shape 20"/>
          <p:cNvSpPr/>
          <p:nvPr/>
        </p:nvSpPr>
        <p:spPr>
          <a:xfrm>
            <a:off x="822960" y="5029200"/>
            <a:ext cx="7315200" cy="45720"/>
          </a:xfrm>
          <a:prstGeom prst="rect">
            <a:avLst/>
          </a:prstGeom>
          <a:solidFill>
            <a:srgbClr val="E94560"/>
          </a:solidFill>
          <a:ln/>
        </p:spPr>
      </p:sp>
      <p:sp>
        <p:nvSpPr>
          <p:cNvPr id="23" name="Shape 21"/>
          <p:cNvSpPr/>
          <p:nvPr/>
        </p:nvSpPr>
        <p:spPr>
          <a:xfrm>
            <a:off x="2834640" y="4617720"/>
            <a:ext cx="365760" cy="411480"/>
          </a:xfrm>
          <a:prstGeom prst="triangle">
            <a:avLst/>
          </a:prstGeom>
          <a:solidFill>
            <a:srgbClr val="E94560"/>
          </a:solidFill>
          <a:ln/>
        </p:spPr>
      </p:sp>
      <p:sp>
        <p:nvSpPr>
          <p:cNvPr id="24" name="Shape 22"/>
          <p:cNvSpPr/>
          <p:nvPr/>
        </p:nvSpPr>
        <p:spPr>
          <a:xfrm>
            <a:off x="3337560" y="4617720"/>
            <a:ext cx="365760" cy="411480"/>
          </a:xfrm>
          <a:prstGeom prst="triangle">
            <a:avLst/>
          </a:prstGeom>
          <a:solidFill>
            <a:srgbClr val="E94560"/>
          </a:solidFill>
          <a:ln/>
        </p:spPr>
      </p:sp>
      <p:sp>
        <p:nvSpPr>
          <p:cNvPr id="25" name="Shape 23"/>
          <p:cNvSpPr/>
          <p:nvPr/>
        </p:nvSpPr>
        <p:spPr>
          <a:xfrm>
            <a:off x="4754880" y="4389120"/>
            <a:ext cx="347472" cy="640080"/>
          </a:xfrm>
          <a:prstGeom prst="roundRect">
            <a:avLst>
              <a:gd name="adj" fmla="val 7895"/>
            </a:avLst>
          </a:prstGeom>
          <a:solidFill>
            <a:srgbClr val="FF9F1C"/>
          </a:solidFill>
          <a:ln/>
        </p:spPr>
      </p:sp>
      <p:sp>
        <p:nvSpPr>
          <p:cNvPr id="26" name="Shape 24"/>
          <p:cNvSpPr/>
          <p:nvPr/>
        </p:nvSpPr>
        <p:spPr>
          <a:xfrm>
            <a:off x="6217920" y="3108960"/>
            <a:ext cx="822960" cy="274320"/>
          </a:xfrm>
          <a:prstGeom prst="roundRect">
            <a:avLst>
              <a:gd name="adj" fmla="val 13333"/>
            </a:avLst>
          </a:prstGeom>
          <a:solidFill>
            <a:srgbClr val="00D4FF"/>
          </a:solidFill>
          <a:ln/>
        </p:spPr>
      </p:sp>
      <p:sp>
        <p:nvSpPr>
          <p:cNvPr id="27" name="Shape 25"/>
          <p:cNvSpPr/>
          <p:nvPr/>
        </p:nvSpPr>
        <p:spPr>
          <a:xfrm>
            <a:off x="1874520" y="4370832"/>
            <a:ext cx="347472" cy="347472"/>
          </a:xfrm>
          <a:prstGeom prst="roundRect">
            <a:avLst>
              <a:gd name="adj" fmla="val 13158"/>
            </a:avLst>
          </a:prstGeom>
          <a:solidFill>
            <a:srgbClr val="7B2FF7"/>
          </a:solidFill>
          <a:ln/>
        </p:spPr>
      </p:sp>
      <p:sp>
        <p:nvSpPr>
          <p:cNvPr id="28" name="Shape 26"/>
          <p:cNvSpPr/>
          <p:nvPr/>
        </p:nvSpPr>
        <p:spPr>
          <a:xfrm>
            <a:off x="1965960" y="4407408"/>
            <a:ext cx="347472" cy="347472"/>
          </a:xfrm>
          <a:prstGeom prst="roundRect">
            <a:avLst>
              <a:gd name="adj" fmla="val 13158"/>
            </a:avLst>
          </a:prstGeom>
          <a:solidFill>
            <a:srgbClr val="00D4FF"/>
          </a:solidFill>
          <a:ln/>
        </p:spPr>
      </p:sp>
      <p:sp>
        <p:nvSpPr>
          <p:cNvPr id="29" name="Shape 27"/>
          <p:cNvSpPr/>
          <p:nvPr/>
        </p:nvSpPr>
        <p:spPr>
          <a:xfrm>
            <a:off x="2057400" y="4443984"/>
            <a:ext cx="365760" cy="365760"/>
          </a:xfrm>
          <a:prstGeom prst="roundRect">
            <a:avLst>
              <a:gd name="adj" fmla="val 12500"/>
            </a:avLst>
          </a:prstGeom>
          <a:solidFill>
            <a:srgbClr val="00D4FF"/>
          </a:solidFill>
          <a:ln w="12700">
            <a:solidFill>
              <a:srgbClr val="FFFFFF"/>
            </a:solidFill>
            <a:prstDash val="solid"/>
          </a:ln>
        </p:spPr>
      </p:sp>
      <p:sp>
        <p:nvSpPr>
          <p:cNvPr id="30" name="Text 28"/>
          <p:cNvSpPr/>
          <p:nvPr/>
        </p:nvSpPr>
        <p:spPr>
          <a:xfrm>
            <a:off x="1005840" y="2011680"/>
            <a:ext cx="201168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Score: 128</a:t>
            </a:r>
            <a:endParaRPr lang="en-US" sz="1400" dirty="0"/>
          </a:p>
        </p:txBody>
      </p:sp>
      <p:sp>
        <p:nvSpPr>
          <p:cNvPr id="31" name="Text 29"/>
          <p:cNvSpPr/>
          <p:nvPr/>
        </p:nvSpPr>
        <p:spPr>
          <a:xfrm>
            <a:off x="6309360" y="2011680"/>
            <a:ext cx="1645920" cy="320040"/>
          </a:xfrm>
          <a:prstGeom prst="rect">
            <a:avLst/>
          </a:prstGeom>
          <a:noFill/>
          <a:ln/>
        </p:spPr>
        <p:txBody>
          <a:bodyPr wrap="square" lIns="0" tIns="0" rIns="0" bIns="0" rtlCol="0" anchor="ctr"/>
          <a:lstStyle/>
          <a:p>
            <a:pPr algn="r" indent="0" marL="0">
              <a:buNone/>
            </a:pPr>
            <a:r>
              <a:rPr lang="en-US" sz="1100" dirty="0">
                <a:solidFill>
                  <a:srgbClr val="AEB4D6"/>
                </a:solidFill>
                <a:latin typeface="Arial" pitchFamily="34" charset="0"/>
                <a:ea typeface="Arial" pitchFamily="34" charset="-122"/>
                <a:cs typeface="Arial" pitchFamily="34" charset="-120"/>
              </a:rPr>
              <a:t>Best: 340</a:t>
            </a:r>
            <a:endParaRPr lang="en-US" sz="1100" dirty="0"/>
          </a:p>
        </p:txBody>
      </p:sp>
      <p:sp>
        <p:nvSpPr>
          <p:cNvPr id="32" name="Shape 30"/>
          <p:cNvSpPr/>
          <p:nvPr/>
        </p:nvSpPr>
        <p:spPr>
          <a:xfrm>
            <a:off x="8458200" y="2011680"/>
            <a:ext cx="3154680" cy="1143000"/>
          </a:xfrm>
          <a:prstGeom prst="roundRect">
            <a:avLst>
              <a:gd name="adj" fmla="val 8000"/>
            </a:avLst>
          </a:prstGeom>
          <a:solidFill>
            <a:srgbClr val="232946"/>
          </a:solidFill>
          <a:ln/>
        </p:spPr>
      </p:sp>
      <p:sp>
        <p:nvSpPr>
          <p:cNvPr id="33" name="Shape 31"/>
          <p:cNvSpPr/>
          <p:nvPr/>
        </p:nvSpPr>
        <p:spPr>
          <a:xfrm>
            <a:off x="8641080" y="2194560"/>
            <a:ext cx="109728" cy="109728"/>
          </a:xfrm>
          <a:prstGeom prst="roundRect">
            <a:avLst/>
          </a:prstGeom>
          <a:solidFill>
            <a:srgbClr val="00D4FF"/>
          </a:solidFill>
          <a:ln/>
        </p:spPr>
      </p:sp>
      <p:sp>
        <p:nvSpPr>
          <p:cNvPr id="34" name="Text 32"/>
          <p:cNvSpPr/>
          <p:nvPr/>
        </p:nvSpPr>
        <p:spPr>
          <a:xfrm>
            <a:off x="8842248" y="2121408"/>
            <a:ext cx="260604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TRAIL</a:t>
            </a:r>
            <a:endParaRPr lang="en-US" sz="1150" dirty="0"/>
          </a:p>
        </p:txBody>
      </p:sp>
      <p:sp>
        <p:nvSpPr>
          <p:cNvPr id="35" name="Text 33"/>
          <p:cNvSpPr/>
          <p:nvPr/>
        </p:nvSpPr>
        <p:spPr>
          <a:xfrm>
            <a:off x="8641080" y="2468880"/>
            <a:ext cx="2788920" cy="594360"/>
          </a:xfrm>
          <a:prstGeom prst="rect">
            <a:avLst/>
          </a:prstGeom>
          <a:noFill/>
          <a:ln/>
        </p:spPr>
        <p:txBody>
          <a:bodyPr wrap="square" lIns="0" tIns="0" rIns="0" bIns="0" rtlCol="0" anchor="ctr"/>
          <a:lstStyle/>
          <a:p>
            <a:pPr indent="0" marL="0">
              <a:buNone/>
            </a:pPr>
            <a:r>
              <a:rPr lang="en-US" sz="1000" dirty="0">
                <a:solidFill>
                  <a:srgbClr val="AEB4D6"/>
                </a:solidFill>
                <a:latin typeface="Calibri" pitchFamily="34" charset="0"/>
                <a:ea typeface="Calibri" pitchFamily="34" charset="-122"/>
                <a:cs typeface="Calibri" pitchFamily="34" charset="-120"/>
              </a:rPr>
              <a:t>잔상 효과로 이동감 강조</a:t>
            </a:r>
            <a:endParaRPr lang="en-US" sz="1000" dirty="0"/>
          </a:p>
        </p:txBody>
      </p:sp>
      <p:sp>
        <p:nvSpPr>
          <p:cNvPr id="36" name="Shape 34"/>
          <p:cNvSpPr/>
          <p:nvPr/>
        </p:nvSpPr>
        <p:spPr>
          <a:xfrm>
            <a:off x="8458200" y="3383280"/>
            <a:ext cx="3154680" cy="1143000"/>
          </a:xfrm>
          <a:prstGeom prst="roundRect">
            <a:avLst>
              <a:gd name="adj" fmla="val 8000"/>
            </a:avLst>
          </a:prstGeom>
          <a:solidFill>
            <a:srgbClr val="232946"/>
          </a:solidFill>
          <a:ln/>
        </p:spPr>
      </p:sp>
      <p:sp>
        <p:nvSpPr>
          <p:cNvPr id="37" name="Shape 35"/>
          <p:cNvSpPr/>
          <p:nvPr/>
        </p:nvSpPr>
        <p:spPr>
          <a:xfrm>
            <a:off x="8641080" y="3566160"/>
            <a:ext cx="109728" cy="109728"/>
          </a:xfrm>
          <a:prstGeom prst="roundRect">
            <a:avLst/>
          </a:prstGeom>
          <a:solidFill>
            <a:srgbClr val="00D4FF"/>
          </a:solidFill>
          <a:ln/>
        </p:spPr>
      </p:sp>
      <p:sp>
        <p:nvSpPr>
          <p:cNvPr id="38" name="Text 36"/>
          <p:cNvSpPr/>
          <p:nvPr/>
        </p:nvSpPr>
        <p:spPr>
          <a:xfrm>
            <a:off x="8842248" y="3493008"/>
            <a:ext cx="260604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OVERHEAD</a:t>
            </a:r>
            <a:endParaRPr lang="en-US" sz="1150" dirty="0"/>
          </a:p>
        </p:txBody>
      </p:sp>
      <p:sp>
        <p:nvSpPr>
          <p:cNvPr id="39" name="Text 37"/>
          <p:cNvSpPr/>
          <p:nvPr/>
        </p:nvSpPr>
        <p:spPr>
          <a:xfrm>
            <a:off x="8641080" y="3840480"/>
            <a:ext cx="2788920" cy="594360"/>
          </a:xfrm>
          <a:prstGeom prst="rect">
            <a:avLst/>
          </a:prstGeom>
          <a:noFill/>
          <a:ln/>
        </p:spPr>
        <p:txBody>
          <a:bodyPr wrap="square" lIns="0" tIns="0" rIns="0" bIns="0" rtlCol="0" anchor="ctr"/>
          <a:lstStyle/>
          <a:p>
            <a:pPr indent="0" marL="0">
              <a:buNone/>
            </a:pPr>
            <a:r>
              <a:rPr lang="en-US" sz="1000" dirty="0">
                <a:solidFill>
                  <a:srgbClr val="AEB4D6"/>
                </a:solidFill>
                <a:latin typeface="Calibri" pitchFamily="34" charset="0"/>
                <a:ea typeface="Calibri" pitchFamily="34" charset="-122"/>
                <a:cs typeface="Calibri" pitchFamily="34" charset="-120"/>
              </a:rPr>
              <a:t>숙여서 통과하는 장애물</a:t>
            </a:r>
            <a:endParaRPr lang="en-US" sz="1000" dirty="0"/>
          </a:p>
        </p:txBody>
      </p:sp>
      <p:sp>
        <p:nvSpPr>
          <p:cNvPr id="40" name="Shape 38"/>
          <p:cNvSpPr/>
          <p:nvPr/>
        </p:nvSpPr>
        <p:spPr>
          <a:xfrm>
            <a:off x="8458200" y="4754880"/>
            <a:ext cx="3154680" cy="1143000"/>
          </a:xfrm>
          <a:prstGeom prst="roundRect">
            <a:avLst>
              <a:gd name="adj" fmla="val 8000"/>
            </a:avLst>
          </a:prstGeom>
          <a:solidFill>
            <a:srgbClr val="232946"/>
          </a:solidFill>
          <a:ln/>
        </p:spPr>
      </p:sp>
      <p:sp>
        <p:nvSpPr>
          <p:cNvPr id="41" name="Shape 39"/>
          <p:cNvSpPr/>
          <p:nvPr/>
        </p:nvSpPr>
        <p:spPr>
          <a:xfrm>
            <a:off x="8641080" y="4937760"/>
            <a:ext cx="109728" cy="109728"/>
          </a:xfrm>
          <a:prstGeom prst="roundRect">
            <a:avLst/>
          </a:prstGeom>
          <a:solidFill>
            <a:srgbClr val="E94560"/>
          </a:solidFill>
          <a:ln/>
        </p:spPr>
      </p:sp>
      <p:sp>
        <p:nvSpPr>
          <p:cNvPr id="42" name="Text 40"/>
          <p:cNvSpPr/>
          <p:nvPr/>
        </p:nvSpPr>
        <p:spPr>
          <a:xfrm>
            <a:off x="8842248" y="4864608"/>
            <a:ext cx="260604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p>
        </p:txBody>
      </p:sp>
      <p:sp>
        <p:nvSpPr>
          <p:cNvPr id="43" name="Text 41"/>
          <p:cNvSpPr/>
          <p:nvPr/>
        </p:nvSpPr>
        <p:spPr>
          <a:xfrm>
            <a:off x="8641080" y="5212080"/>
            <a:ext cx="2788920" cy="594360"/>
          </a:xfrm>
          <a:prstGeom prst="rect">
            <a:avLst/>
          </a:prstGeom>
          <a:noFill/>
          <a:ln/>
        </p:spPr>
        <p:txBody>
          <a:bodyPr wrap="square" lIns="0" tIns="0" rIns="0" bIns="0" rtlCol="0" anchor="ctr"/>
          <a:lstStyle/>
          <a:p>
            <a:pPr indent="0" marL="0">
              <a:buNone/>
            </a:pPr>
            <a:r>
              <a:rPr lang="en-US" sz="1000" dirty="0">
                <a:solidFill>
                  <a:srgbClr val="AEB4D6"/>
                </a:solidFill>
                <a:latin typeface="Calibri" pitchFamily="34" charset="0"/>
                <a:ea typeface="Calibri" pitchFamily="34" charset="-122"/>
                <a:cs typeface="Calibri" pitchFamily="34" charset="-120"/>
              </a:rPr>
              <a:t>가시+블록 조합 배치</a:t>
            </a:r>
            <a:endParaRPr lang="en-US" sz="1000" dirty="0"/>
          </a:p>
        </p:txBody>
      </p:sp>
      <p:sp>
        <p:nvSpPr>
          <p:cNvPr id="44" name="Text 42"/>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REFLECTION</a:t>
            </a:r>
            <a:endParaRPr lang="en-US" sz="1200" dirty="0"/>
          </a:p>
        </p:txBody>
      </p:sp>
      <p:sp>
        <p:nvSpPr>
          <p:cNvPr id="3" name="Text 1"/>
          <p:cNvSpPr/>
          <p:nvPr/>
        </p:nvSpPr>
        <p:spPr>
          <a:xfrm>
            <a:off x="548640" y="731520"/>
            <a:ext cx="73152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배운 점</a:t>
            </a:r>
            <a:endParaRPr lang="en-US" sz="3200" dirty="0"/>
          </a:p>
        </p:txBody>
      </p:sp>
      <p:sp>
        <p:nvSpPr>
          <p:cNvPr id="4" name="Shape 2"/>
          <p:cNvSpPr/>
          <p:nvPr/>
        </p:nvSpPr>
        <p:spPr>
          <a:xfrm>
            <a:off x="548640" y="1920240"/>
            <a:ext cx="3520440" cy="4114800"/>
          </a:xfrm>
          <a:prstGeom prst="roundRect">
            <a:avLst>
              <a:gd name="adj" fmla="val 3117"/>
            </a:avLst>
          </a:prstGeom>
          <a:solidFill>
            <a:srgbClr val="232946"/>
          </a:solidFill>
          <a:ln/>
        </p:spPr>
      </p:sp>
      <p:sp>
        <p:nvSpPr>
          <p:cNvPr id="5" name="Text 3"/>
          <p:cNvSpPr/>
          <p:nvPr/>
        </p:nvSpPr>
        <p:spPr>
          <a:xfrm>
            <a:off x="822960" y="2148840"/>
            <a:ext cx="1371600" cy="822960"/>
          </a:xfrm>
          <a:prstGeom prst="rect">
            <a:avLst/>
          </a:prstGeom>
          <a:noFill/>
          <a:ln/>
        </p:spPr>
        <p:txBody>
          <a:bodyPr wrap="square" rtlCol="0" anchor="ctr"/>
          <a:lstStyle/>
          <a:p>
            <a:pPr indent="0" marL="0">
              <a:buNone/>
            </a:pPr>
            <a:r>
              <a:rPr lang="en-US" sz="4000" b="1" dirty="0">
                <a:solidFill>
                  <a:srgbClr val="00D4FF"/>
                </a:solidFill>
                <a:latin typeface="Calibri" pitchFamily="34" charset="0"/>
                <a:ea typeface="Calibri" pitchFamily="34" charset="-122"/>
                <a:cs typeface="Calibri" pitchFamily="34" charset="-120"/>
              </a:rPr>
              <a:t>01</a:t>
            </a:r>
            <a:endParaRPr lang="en-US" sz="4000" dirty="0"/>
          </a:p>
        </p:txBody>
      </p:sp>
      <p:sp>
        <p:nvSpPr>
          <p:cNvPr id="6" name="Text 4"/>
          <p:cNvSpPr/>
          <p:nvPr/>
        </p:nvSpPr>
        <p:spPr>
          <a:xfrm>
            <a:off x="822960" y="3017520"/>
            <a:ext cx="297180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구체적인 스펙이 결과물의 질을 결정한다</a:t>
            </a:r>
            <a:endParaRPr lang="en-US" sz="1500" dirty="0"/>
          </a:p>
        </p:txBody>
      </p:sp>
      <p:sp>
        <p:nvSpPr>
          <p:cNvPr id="7" name="Text 5"/>
          <p:cNvSpPr/>
          <p:nvPr/>
        </p:nvSpPr>
        <p:spPr>
          <a:xfrm>
            <a:off x="822960" y="3886200"/>
            <a:ext cx="2971800" cy="1920240"/>
          </a:xfrm>
          <a:prstGeom prst="rect">
            <a:avLst/>
          </a:prstGeom>
          <a:noFill/>
          <a:ln/>
        </p:spPr>
        <p:txBody>
          <a:bodyPr wrap="square" lIns="0" tIns="0" rIns="0" bIns="0" rtlCol="0" anchor="t"/>
          <a:lstStyle/>
          <a:p>
            <a:pPr indent="0" marL="0">
              <a:buNone/>
            </a:pPr>
            <a:r>
              <a:rPr lang="en-US" sz="1200" dirty="0">
                <a:solidFill>
                  <a:srgbClr val="AEB4D6"/>
                </a:solidFill>
                <a:latin typeface="Calibri" pitchFamily="34" charset="0"/>
                <a:ea typeface="Calibri" pitchFamily="34" charset="-122"/>
                <a:cs typeface="Calibri" pitchFamily="34" charset="-120"/>
              </a:rPr>
              <a:t>모호한 요청보다 수치, 조작키, 파일 형식까지 구체적으로 전달했을 때 AI 팀의 결과물 품질이 확연히 좋아졌다.</a:t>
            </a:r>
            <a:endParaRPr lang="en-US" sz="1200" dirty="0"/>
          </a:p>
        </p:txBody>
      </p:sp>
      <p:sp>
        <p:nvSpPr>
          <p:cNvPr id="8" name="Shape 6"/>
          <p:cNvSpPr/>
          <p:nvPr/>
        </p:nvSpPr>
        <p:spPr>
          <a:xfrm>
            <a:off x="4343400" y="1920240"/>
            <a:ext cx="3520440" cy="4114800"/>
          </a:xfrm>
          <a:prstGeom prst="roundRect">
            <a:avLst>
              <a:gd name="adj" fmla="val 3117"/>
            </a:avLst>
          </a:prstGeom>
          <a:solidFill>
            <a:srgbClr val="232946"/>
          </a:solidFill>
          <a:ln/>
        </p:spPr>
      </p:sp>
      <p:sp>
        <p:nvSpPr>
          <p:cNvPr id="9" name="Text 7"/>
          <p:cNvSpPr/>
          <p:nvPr/>
        </p:nvSpPr>
        <p:spPr>
          <a:xfrm>
            <a:off x="4617720" y="2148840"/>
            <a:ext cx="1371600" cy="822960"/>
          </a:xfrm>
          <a:prstGeom prst="rect">
            <a:avLst/>
          </a:prstGeom>
          <a:noFill/>
          <a:ln/>
        </p:spPr>
        <p:txBody>
          <a:bodyPr wrap="square" rtlCol="0" anchor="ctr"/>
          <a:lstStyle/>
          <a:p>
            <a:pPr indent="0" marL="0">
              <a:buNone/>
            </a:pPr>
            <a:r>
              <a:rPr lang="en-US" sz="4000" b="1" dirty="0">
                <a:solidFill>
                  <a:srgbClr val="7B2FF7"/>
                </a:solidFill>
                <a:latin typeface="Calibri" pitchFamily="34" charset="0"/>
                <a:ea typeface="Calibri" pitchFamily="34" charset="-122"/>
                <a:cs typeface="Calibri" pitchFamily="34" charset="-120"/>
              </a:rPr>
              <a:t>02</a:t>
            </a:r>
            <a:endParaRPr lang="en-US" sz="4000" dirty="0"/>
          </a:p>
        </p:txBody>
      </p:sp>
      <p:sp>
        <p:nvSpPr>
          <p:cNvPr id="10" name="Text 8"/>
          <p:cNvSpPr/>
          <p:nvPr/>
        </p:nvSpPr>
        <p:spPr>
          <a:xfrm>
            <a:off x="4617720" y="3017520"/>
            <a:ext cx="297180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직접 플레이해보는 검증이 필수다</a:t>
            </a:r>
            <a:endParaRPr lang="en-US" sz="1500" dirty="0"/>
          </a:p>
        </p:txBody>
      </p:sp>
      <p:sp>
        <p:nvSpPr>
          <p:cNvPr id="11" name="Text 9"/>
          <p:cNvSpPr/>
          <p:nvPr/>
        </p:nvSpPr>
        <p:spPr>
          <a:xfrm>
            <a:off x="4617720" y="3886200"/>
            <a:ext cx="2971800" cy="1920240"/>
          </a:xfrm>
          <a:prstGeom prst="rect">
            <a:avLst/>
          </a:prstGeom>
          <a:noFill/>
          <a:ln/>
        </p:spPr>
        <p:txBody>
          <a:bodyPr wrap="square" lIns="0" tIns="0" rIns="0" bIns="0" rtlCol="0" anchor="t"/>
          <a:lstStyle/>
          <a:p>
            <a:pPr indent="0" marL="0">
              <a:buNone/>
            </a:pPr>
            <a:r>
              <a:rPr lang="en-US" sz="1200" dirty="0">
                <a:solidFill>
                  <a:srgbClr val="AEB4D6"/>
                </a:solidFill>
                <a:latin typeface="Calibri" pitchFamily="34" charset="0"/>
                <a:ea typeface="Calibri" pitchFamily="34" charset="-122"/>
                <a:cs typeface="Calibri" pitchFamily="34" charset="-120"/>
              </a:rPr>
              <a:t>초기 결과물을 그대로 쓰지 않고 실제로 플레이하며 밸런스 문제(하드 모드 즉사)를 발견하고 구체적으로 피드백했다.</a:t>
            </a:r>
            <a:endParaRPr lang="en-US" sz="1200" dirty="0"/>
          </a:p>
        </p:txBody>
      </p:sp>
      <p:sp>
        <p:nvSpPr>
          <p:cNvPr id="12" name="Shape 10"/>
          <p:cNvSpPr/>
          <p:nvPr/>
        </p:nvSpPr>
        <p:spPr>
          <a:xfrm>
            <a:off x="8138160" y="1920240"/>
            <a:ext cx="3520440" cy="4114800"/>
          </a:xfrm>
          <a:prstGeom prst="roundRect">
            <a:avLst>
              <a:gd name="adj" fmla="val 3117"/>
            </a:avLst>
          </a:prstGeom>
          <a:solidFill>
            <a:srgbClr val="232946"/>
          </a:solidFill>
          <a:ln/>
        </p:spPr>
      </p:sp>
      <p:sp>
        <p:nvSpPr>
          <p:cNvPr id="13" name="Text 11"/>
          <p:cNvSpPr/>
          <p:nvPr/>
        </p:nvSpPr>
        <p:spPr>
          <a:xfrm>
            <a:off x="8412480" y="2148840"/>
            <a:ext cx="1371600" cy="822960"/>
          </a:xfrm>
          <a:prstGeom prst="rect">
            <a:avLst/>
          </a:prstGeom>
          <a:noFill/>
          <a:ln/>
        </p:spPr>
        <p:txBody>
          <a:bodyPr wrap="square" rtlCol="0" anchor="ctr"/>
          <a:lstStyle/>
          <a:p>
            <a:pPr indent="0" marL="0">
              <a:buNone/>
            </a:pPr>
            <a:r>
              <a:rPr lang="en-US" sz="4000" b="1" dirty="0">
                <a:solidFill>
                  <a:srgbClr val="FF9F1C"/>
                </a:solidFill>
                <a:latin typeface="Calibri" pitchFamily="34" charset="0"/>
                <a:ea typeface="Calibri" pitchFamily="34" charset="-122"/>
                <a:cs typeface="Calibri" pitchFamily="34" charset="-120"/>
              </a:rPr>
              <a:t>03</a:t>
            </a:r>
            <a:endParaRPr lang="en-US" sz="4000" dirty="0"/>
          </a:p>
        </p:txBody>
      </p:sp>
      <p:sp>
        <p:nvSpPr>
          <p:cNvPr id="14" name="Text 12"/>
          <p:cNvSpPr/>
          <p:nvPr/>
        </p:nvSpPr>
        <p:spPr>
          <a:xfrm>
            <a:off x="8412480" y="3017520"/>
            <a:ext cx="297180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요청을 단계별로 나누는 것이 효율적이다</a:t>
            </a:r>
            <a:endParaRPr lang="en-US" sz="1500" dirty="0"/>
          </a:p>
        </p:txBody>
      </p:sp>
      <p:sp>
        <p:nvSpPr>
          <p:cNvPr id="15" name="Text 13"/>
          <p:cNvSpPr/>
          <p:nvPr/>
        </p:nvSpPr>
        <p:spPr>
          <a:xfrm>
            <a:off x="8412480" y="3886200"/>
            <a:ext cx="2971800" cy="1920240"/>
          </a:xfrm>
          <a:prstGeom prst="rect">
            <a:avLst/>
          </a:prstGeom>
          <a:noFill/>
          <a:ln/>
        </p:spPr>
        <p:txBody>
          <a:bodyPr wrap="square" lIns="0" tIns="0" rIns="0" bIns="0" rtlCol="0" anchor="t"/>
          <a:lstStyle/>
          <a:p>
            <a:pPr indent="0" marL="0">
              <a:buNone/>
            </a:pPr>
            <a:r>
              <a:rPr lang="en-US" sz="1200" dirty="0">
                <a:solidFill>
                  <a:srgbClr val="AEB4D6"/>
                </a:solidFill>
                <a:latin typeface="Calibri" pitchFamily="34" charset="0"/>
                <a:ea typeface="Calibri" pitchFamily="34" charset="-122"/>
                <a:cs typeface="Calibri" pitchFamily="34" charset="-120"/>
              </a:rPr>
              <a:t>팀원 간 역할 분담처럼, AI에게도 기능을 한 번에 몰아 요청하기보다 단계별로 나눠 요청할 때 결과가 안정적이었다.</a:t>
            </a:r>
            <a:endParaRPr lang="en-US" sz="1200" dirty="0"/>
          </a:p>
        </p:txBody>
      </p:sp>
      <p:sp>
        <p:nvSpPr>
          <p:cNvPr id="16" name="Text 14"/>
          <p:cNvSpPr/>
          <p:nvPr/>
        </p:nvSpPr>
        <p:spPr>
          <a:xfrm>
            <a:off x="10911535" y="6400800"/>
            <a:ext cx="914400" cy="274320"/>
          </a:xfrm>
          <a:prstGeom prst="rect">
            <a:avLst/>
          </a:prstGeom>
          <a:noFill/>
          <a:ln/>
        </p:spPr>
        <p:txBody>
          <a:bodyPr wrap="square" rtlCol="0" anchor="ctr"/>
          <a:lstStyle/>
          <a:p>
            <a:pPr algn="r" indent="0" marL="0">
              <a:buNone/>
            </a:pPr>
            <a:r>
              <a:rPr lang="en-US" sz="1000" dirty="0">
                <a:solidFill>
                  <a:srgbClr val="8A90B8"/>
                </a:solidFill>
                <a:latin typeface="Calibri" pitchFamily="34" charset="0"/>
                <a:ea typeface="Calibri" pitchFamily="34" charset="-122"/>
                <a:cs typeface="Calibri" pitchFamily="34" charset="-120"/>
              </a:rPr>
              <a:t>09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6350">
            <a:solidFill>
              <a:srgbClr val="7B2FF7">
                <a:alpha val="7000"/>
              </a:srgbClr>
            </a:solidFill>
            <a:prstDash val="solid"/>
          </a:ln>
        </p:spPr>
      </p:sp>
      <p:sp>
        <p:nvSpPr>
          <p:cNvPr id="3" name="Shape 1"/>
          <p:cNvSpPr/>
          <p:nvPr/>
        </p:nvSpPr>
        <p:spPr>
          <a:xfrm>
            <a:off x="822960" y="0"/>
            <a:ext cx="0" cy="6858000"/>
          </a:xfrm>
          <a:prstGeom prst="line">
            <a:avLst/>
          </a:prstGeom>
          <a:noFill/>
          <a:ln w="6350">
            <a:solidFill>
              <a:srgbClr val="7B2FF7">
                <a:alpha val="7000"/>
              </a:srgbClr>
            </a:solidFill>
            <a:prstDash val="solid"/>
          </a:ln>
        </p:spPr>
      </p:sp>
      <p:sp>
        <p:nvSpPr>
          <p:cNvPr id="4" name="Shape 2"/>
          <p:cNvSpPr/>
          <p:nvPr/>
        </p:nvSpPr>
        <p:spPr>
          <a:xfrm>
            <a:off x="1645920" y="0"/>
            <a:ext cx="0" cy="6858000"/>
          </a:xfrm>
          <a:prstGeom prst="line">
            <a:avLst/>
          </a:prstGeom>
          <a:noFill/>
          <a:ln w="6350">
            <a:solidFill>
              <a:srgbClr val="7B2FF7">
                <a:alpha val="7000"/>
              </a:srgbClr>
            </a:solidFill>
            <a:prstDash val="solid"/>
          </a:ln>
        </p:spPr>
      </p:sp>
      <p:sp>
        <p:nvSpPr>
          <p:cNvPr id="5" name="Shape 3"/>
          <p:cNvSpPr/>
          <p:nvPr/>
        </p:nvSpPr>
        <p:spPr>
          <a:xfrm>
            <a:off x="2468880" y="0"/>
            <a:ext cx="0" cy="6858000"/>
          </a:xfrm>
          <a:prstGeom prst="line">
            <a:avLst/>
          </a:prstGeom>
          <a:noFill/>
          <a:ln w="6350">
            <a:solidFill>
              <a:srgbClr val="7B2FF7">
                <a:alpha val="7000"/>
              </a:srgbClr>
            </a:solidFill>
            <a:prstDash val="solid"/>
          </a:ln>
        </p:spPr>
      </p:sp>
      <p:sp>
        <p:nvSpPr>
          <p:cNvPr id="6" name="Shape 4"/>
          <p:cNvSpPr/>
          <p:nvPr/>
        </p:nvSpPr>
        <p:spPr>
          <a:xfrm>
            <a:off x="3291840" y="0"/>
            <a:ext cx="0" cy="6858000"/>
          </a:xfrm>
          <a:prstGeom prst="line">
            <a:avLst/>
          </a:prstGeom>
          <a:noFill/>
          <a:ln w="6350">
            <a:solidFill>
              <a:srgbClr val="7B2FF7">
                <a:alpha val="7000"/>
              </a:srgbClr>
            </a:solidFill>
            <a:prstDash val="solid"/>
          </a:ln>
        </p:spPr>
      </p:sp>
      <p:sp>
        <p:nvSpPr>
          <p:cNvPr id="7" name="Shape 5"/>
          <p:cNvSpPr/>
          <p:nvPr/>
        </p:nvSpPr>
        <p:spPr>
          <a:xfrm>
            <a:off x="4114800" y="0"/>
            <a:ext cx="0" cy="6858000"/>
          </a:xfrm>
          <a:prstGeom prst="line">
            <a:avLst/>
          </a:prstGeom>
          <a:noFill/>
          <a:ln w="6350">
            <a:solidFill>
              <a:srgbClr val="7B2FF7">
                <a:alpha val="7000"/>
              </a:srgbClr>
            </a:solidFill>
            <a:prstDash val="solid"/>
          </a:ln>
        </p:spPr>
      </p:sp>
      <p:sp>
        <p:nvSpPr>
          <p:cNvPr id="8" name="Shape 6"/>
          <p:cNvSpPr/>
          <p:nvPr/>
        </p:nvSpPr>
        <p:spPr>
          <a:xfrm>
            <a:off x="4937760" y="0"/>
            <a:ext cx="0" cy="6858000"/>
          </a:xfrm>
          <a:prstGeom prst="line">
            <a:avLst/>
          </a:prstGeom>
          <a:noFill/>
          <a:ln w="6350">
            <a:solidFill>
              <a:srgbClr val="7B2FF7">
                <a:alpha val="7000"/>
              </a:srgbClr>
            </a:solidFill>
            <a:prstDash val="solid"/>
          </a:ln>
        </p:spPr>
      </p:sp>
      <p:sp>
        <p:nvSpPr>
          <p:cNvPr id="9" name="Shape 7"/>
          <p:cNvSpPr/>
          <p:nvPr/>
        </p:nvSpPr>
        <p:spPr>
          <a:xfrm>
            <a:off x="5760720" y="0"/>
            <a:ext cx="0" cy="6858000"/>
          </a:xfrm>
          <a:prstGeom prst="line">
            <a:avLst/>
          </a:prstGeom>
          <a:noFill/>
          <a:ln w="6350">
            <a:solidFill>
              <a:srgbClr val="7B2FF7">
                <a:alpha val="7000"/>
              </a:srgbClr>
            </a:solidFill>
            <a:prstDash val="solid"/>
          </a:ln>
        </p:spPr>
      </p:sp>
      <p:sp>
        <p:nvSpPr>
          <p:cNvPr id="10" name="Shape 8"/>
          <p:cNvSpPr/>
          <p:nvPr/>
        </p:nvSpPr>
        <p:spPr>
          <a:xfrm>
            <a:off x="6583680" y="0"/>
            <a:ext cx="0" cy="6858000"/>
          </a:xfrm>
          <a:prstGeom prst="line">
            <a:avLst/>
          </a:prstGeom>
          <a:noFill/>
          <a:ln w="6350">
            <a:solidFill>
              <a:srgbClr val="7B2FF7">
                <a:alpha val="7000"/>
              </a:srgbClr>
            </a:solidFill>
            <a:prstDash val="solid"/>
          </a:ln>
        </p:spPr>
      </p:sp>
      <p:sp>
        <p:nvSpPr>
          <p:cNvPr id="11" name="Shape 9"/>
          <p:cNvSpPr/>
          <p:nvPr/>
        </p:nvSpPr>
        <p:spPr>
          <a:xfrm>
            <a:off x="7406640" y="0"/>
            <a:ext cx="0" cy="6858000"/>
          </a:xfrm>
          <a:prstGeom prst="line">
            <a:avLst/>
          </a:prstGeom>
          <a:noFill/>
          <a:ln w="6350">
            <a:solidFill>
              <a:srgbClr val="7B2FF7">
                <a:alpha val="7000"/>
              </a:srgbClr>
            </a:solidFill>
            <a:prstDash val="solid"/>
          </a:ln>
        </p:spPr>
      </p:sp>
      <p:sp>
        <p:nvSpPr>
          <p:cNvPr id="12" name="Shape 10"/>
          <p:cNvSpPr/>
          <p:nvPr/>
        </p:nvSpPr>
        <p:spPr>
          <a:xfrm>
            <a:off x="8229600" y="0"/>
            <a:ext cx="0" cy="6858000"/>
          </a:xfrm>
          <a:prstGeom prst="line">
            <a:avLst/>
          </a:prstGeom>
          <a:noFill/>
          <a:ln w="6350">
            <a:solidFill>
              <a:srgbClr val="7B2FF7">
                <a:alpha val="7000"/>
              </a:srgbClr>
            </a:solidFill>
            <a:prstDash val="solid"/>
          </a:ln>
        </p:spPr>
      </p:sp>
      <p:sp>
        <p:nvSpPr>
          <p:cNvPr id="13" name="Shape 11"/>
          <p:cNvSpPr/>
          <p:nvPr/>
        </p:nvSpPr>
        <p:spPr>
          <a:xfrm>
            <a:off x="9052560" y="0"/>
            <a:ext cx="0" cy="6858000"/>
          </a:xfrm>
          <a:prstGeom prst="line">
            <a:avLst/>
          </a:prstGeom>
          <a:noFill/>
          <a:ln w="6350">
            <a:solidFill>
              <a:srgbClr val="7B2FF7">
                <a:alpha val="7000"/>
              </a:srgbClr>
            </a:solidFill>
            <a:prstDash val="solid"/>
          </a:ln>
        </p:spPr>
      </p:sp>
      <p:sp>
        <p:nvSpPr>
          <p:cNvPr id="14" name="Shape 12"/>
          <p:cNvSpPr/>
          <p:nvPr/>
        </p:nvSpPr>
        <p:spPr>
          <a:xfrm>
            <a:off x="9875520" y="0"/>
            <a:ext cx="0" cy="6858000"/>
          </a:xfrm>
          <a:prstGeom prst="line">
            <a:avLst/>
          </a:prstGeom>
          <a:noFill/>
          <a:ln w="6350">
            <a:solidFill>
              <a:srgbClr val="7B2FF7">
                <a:alpha val="7000"/>
              </a:srgbClr>
            </a:solidFill>
            <a:prstDash val="solid"/>
          </a:ln>
        </p:spPr>
      </p:sp>
      <p:sp>
        <p:nvSpPr>
          <p:cNvPr id="15" name="Shape 13"/>
          <p:cNvSpPr/>
          <p:nvPr/>
        </p:nvSpPr>
        <p:spPr>
          <a:xfrm>
            <a:off x="10698480" y="0"/>
            <a:ext cx="0" cy="6858000"/>
          </a:xfrm>
          <a:prstGeom prst="line">
            <a:avLst/>
          </a:prstGeom>
          <a:noFill/>
          <a:ln w="6350">
            <a:solidFill>
              <a:srgbClr val="7B2FF7">
                <a:alpha val="7000"/>
              </a:srgbClr>
            </a:solidFill>
            <a:prstDash val="solid"/>
          </a:ln>
        </p:spPr>
      </p:sp>
      <p:sp>
        <p:nvSpPr>
          <p:cNvPr id="16" name="Shape 14"/>
          <p:cNvSpPr/>
          <p:nvPr/>
        </p:nvSpPr>
        <p:spPr>
          <a:xfrm>
            <a:off x="11521440" y="0"/>
            <a:ext cx="0" cy="6858000"/>
          </a:xfrm>
          <a:prstGeom prst="line">
            <a:avLst/>
          </a:prstGeom>
          <a:noFill/>
          <a:ln w="6350">
            <a:solidFill>
              <a:srgbClr val="7B2FF7">
                <a:alpha val="7000"/>
              </a:srgbClr>
            </a:solidFill>
            <a:prstDash val="solid"/>
          </a:ln>
        </p:spPr>
      </p:sp>
      <p:sp>
        <p:nvSpPr>
          <p:cNvPr id="17" name="Text 15"/>
          <p:cNvSpPr/>
          <p:nvPr/>
        </p:nvSpPr>
        <p:spPr>
          <a:xfrm>
            <a:off x="822960" y="822960"/>
            <a:ext cx="5486400" cy="365760"/>
          </a:xfrm>
          <a:prstGeom prst="rect">
            <a:avLst/>
          </a:prstGeom>
          <a:noFill/>
          <a:ln/>
        </p:spPr>
        <p:txBody>
          <a:bodyPr wrap="square" rtlCol="0" anchor="ctr"/>
          <a:lstStyle/>
          <a:p>
            <a:pPr indent="0" marL="0">
              <a:buNone/>
            </a:pPr>
            <a:r>
              <a:rPr lang="en-US" sz="1200" b="1" spc="200" kern="0" dirty="0">
                <a:solidFill>
                  <a:srgbClr val="00D4FF"/>
                </a:solidFill>
                <a:latin typeface="Calibri" pitchFamily="34" charset="0"/>
                <a:ea typeface="Calibri" pitchFamily="34" charset="-122"/>
                <a:cs typeface="Calibri" pitchFamily="34" charset="-120"/>
              </a:rPr>
              <a:t>REFLECTION</a:t>
            </a:r>
            <a:endParaRPr lang="en-US" sz="1200" dirty="0"/>
          </a:p>
        </p:txBody>
      </p:sp>
      <p:sp>
        <p:nvSpPr>
          <p:cNvPr id="18" name="Shape 16"/>
          <p:cNvSpPr/>
          <p:nvPr/>
        </p:nvSpPr>
        <p:spPr>
          <a:xfrm>
            <a:off x="822960" y="1371600"/>
            <a:ext cx="10543032" cy="3383280"/>
          </a:xfrm>
          <a:prstGeom prst="roundRect">
            <a:avLst>
              <a:gd name="adj" fmla="val 3243"/>
            </a:avLst>
          </a:prstGeom>
          <a:solidFill>
            <a:srgbClr val="232946"/>
          </a:solidFill>
          <a:ln w="12700">
            <a:solidFill>
              <a:srgbClr val="7B2FF7"/>
            </a:solidFill>
            <a:prstDash val="solid"/>
          </a:ln>
        </p:spPr>
      </p:sp>
      <p:sp>
        <p:nvSpPr>
          <p:cNvPr id="19" name="Text 17"/>
          <p:cNvSpPr/>
          <p:nvPr/>
        </p:nvSpPr>
        <p:spPr>
          <a:xfrm>
            <a:off x="1234440" y="1691640"/>
            <a:ext cx="9720072" cy="2743200"/>
          </a:xfrm>
          <a:prstGeom prst="rect">
            <a:avLst/>
          </a:prstGeom>
          <a:noFill/>
          <a:ln/>
        </p:spPr>
        <p:txBody>
          <a:bodyPr wrap="square" rtlCol="0" anchor="t"/>
          <a:lstStyle/>
          <a:p>
            <a:pPr indent="0" marL="0">
              <a:lnSpc>
                <a:spcPct val="135000"/>
              </a:lnSpc>
              <a:buNone/>
            </a:pPr>
            <a:r>
              <a:rPr lang="en-US" sz="1500" dirty="0">
                <a:solidFill>
                  <a:srgbClr val="FFFFFF"/>
                </a:solidFill>
                <a:latin typeface="Calibri" pitchFamily="34" charset="0"/>
                <a:ea typeface="Calibri" pitchFamily="34" charset="-122"/>
                <a:cs typeface="Calibri" pitchFamily="34" charset="-120"/>
              </a:rPr>
              <a:t>우리 팀은 WorkBuddy의 Game Development Studio 팀을 활용해 지오메트리 대시 스타일의 웹 게임을 제작했다. 처음엔 단순한 점프 게임으로 시작했지만, 더블 점프·숙이기 조작, 패턴 기반 장애물, 난이도 선택, 절차적 배경음악까지 기능을 단계적으로 추가하며 완성도를 높였다. 특히 하드 모드에서 시작하자마자 죽는 밸런스 오류를 발견하고, 속도와 장애물 간격의 관계를 재설계해 수정한 과정에서 AI 결과물을 그대로 신뢰하기보다 직접 테스트하고 구체적으로 피드백하는 것이 협업의 핵심이라는 걸 배웠다.</a:t>
            </a:r>
            <a:endParaRPr lang="en-US" sz="1500" dirty="0"/>
          </a:p>
        </p:txBody>
      </p:sp>
      <p:sp>
        <p:nvSpPr>
          <p:cNvPr id="20" name="Text 18"/>
          <p:cNvSpPr/>
          <p:nvPr/>
        </p:nvSpPr>
        <p:spPr>
          <a:xfrm>
            <a:off x="822960" y="5120640"/>
            <a:ext cx="10543032"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Thank you</a:t>
            </a:r>
            <a:endParaRPr lang="en-US" sz="2400" dirty="0"/>
          </a:p>
        </p:txBody>
      </p:sp>
      <p:sp>
        <p:nvSpPr>
          <p:cNvPr id="21" name="Text 19"/>
          <p:cNvSpPr/>
          <p:nvPr/>
        </p:nvSpPr>
        <p:spPr>
          <a:xfrm>
            <a:off x="822960" y="5715000"/>
            <a:ext cx="10543032" cy="365760"/>
          </a:xfrm>
          <a:prstGeom prst="rect">
            <a:avLst/>
          </a:prstGeom>
          <a:noFill/>
          <a:ln/>
        </p:spPr>
        <p:txBody>
          <a:bodyPr wrap="square" rtlCol="0" anchor="ctr"/>
          <a:lstStyle/>
          <a:p>
            <a:pPr algn="ctr" indent="0" marL="0">
              <a:buNone/>
            </a:pPr>
            <a:r>
              <a:rPr lang="en-US" sz="1100" dirty="0">
                <a:solidFill>
                  <a:srgbClr val="8A90B8"/>
                </a:solidFill>
                <a:latin typeface="Calibri" pitchFamily="34" charset="0"/>
                <a:ea typeface="Calibri" pitchFamily="34" charset="-122"/>
                <a:cs typeface="Calibri" pitchFamily="34" charset="-120"/>
              </a:rPr>
              <a:t>Geometry Dash Clone · WorkBuddy Game Development Studio Team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2026-08-14T06:23:15Z</dcterms:created>
  <dcterms:modified xsi:type="dcterms:W3CDTF">2026-08-14T06:23:15Z</dcterms:modified>
</cp:coreProperties>
</file>